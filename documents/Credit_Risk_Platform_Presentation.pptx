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822960" y="2286000"/>
            <a:ext cx="10515600" cy="1188720"/>
          </a:xfrm>
          <a:prstGeom prst="rect">
            <a:avLst/>
          </a:prstGeom>
          <a:noFill/>
          <a:ln/>
        </p:spPr>
        <p:txBody>
          <a:bodyPr wrap="square" rtlCol="0" anchor="ctr"/>
          <a:lstStyle/>
          <a:p>
            <a:pPr indent="0" marL="0">
              <a:buNone/>
            </a:pPr>
            <a:r>
              <a:rPr lang="en-US" sz="4200" b="1" dirty="0">
                <a:solidFill>
                  <a:srgbClr val="E8EDF3"/>
                </a:solidFill>
                <a:latin typeface="Calibri" pitchFamily="34" charset="0"/>
                <a:ea typeface="Calibri" pitchFamily="34" charset="-122"/>
                <a:cs typeface="Calibri" pitchFamily="34" charset="-120"/>
              </a:rPr>
              <a:t>Credit Risk Intelligence Platform</a:t>
            </a:r>
            <a:endParaRPr lang="en-US" sz="4200" dirty="0"/>
          </a:p>
        </p:txBody>
      </p:sp>
      <p:sp>
        <p:nvSpPr>
          <p:cNvPr id="3" name="Text 1"/>
          <p:cNvSpPr txBox="1"/>
          <p:nvPr/>
        </p:nvSpPr>
        <p:spPr>
          <a:xfrm>
            <a:off x="822960" y="3337560"/>
            <a:ext cx="9601200" cy="548640"/>
          </a:xfrm>
          <a:prstGeom prst="rect">
            <a:avLst/>
          </a:prstGeom>
          <a:noFill/>
          <a:ln/>
        </p:spPr>
        <p:txBody>
          <a:bodyPr wrap="square" rtlCol="0" anchor="ctr"/>
          <a:lstStyle/>
          <a:p>
            <a:pPr indent="0" marL="0">
              <a:buNone/>
            </a:pPr>
            <a:r>
              <a:rPr lang="en-US" sz="1600" dirty="0">
                <a:solidFill>
                  <a:srgbClr val="8A97AB"/>
                </a:solidFill>
                <a:latin typeface="Calibri" pitchFamily="34" charset="0"/>
                <a:ea typeface="Calibri" pitchFamily="34" charset="-122"/>
                <a:cs typeface="Calibri" pitchFamily="34" charset="-120"/>
              </a:rPr>
              <a:t>An AI-powered platform for loan default prediction, explainability, and natural-language data access</a:t>
            </a:r>
            <a:endParaRPr lang="en-US" sz="1600" dirty="0"/>
          </a:p>
        </p:txBody>
      </p:sp>
      <p:sp>
        <p:nvSpPr>
          <p:cNvPr id="4" name="Shape 2"/>
          <p:cNvSpPr/>
          <p:nvPr/>
        </p:nvSpPr>
        <p:spPr>
          <a:xfrm>
            <a:off x="822960" y="3977640"/>
            <a:ext cx="502920" cy="54864"/>
          </a:xfrm>
          <a:prstGeom prst="rect">
            <a:avLst/>
          </a:prstGeom>
          <a:solidFill>
            <a:srgbClr val="3FA796"/>
          </a:solidFill>
          <a:ln/>
        </p:spPr>
      </p:sp>
      <p:sp>
        <p:nvSpPr>
          <p:cNvPr id="5" name="Text 3"/>
          <p:cNvSpPr txBox="1"/>
          <p:nvPr/>
        </p:nvSpPr>
        <p:spPr>
          <a:xfrm>
            <a:off x="822960" y="5989320"/>
            <a:ext cx="8229600" cy="365760"/>
          </a:xfrm>
          <a:prstGeom prst="rect">
            <a:avLst/>
          </a:prstGeom>
          <a:noFill/>
          <a:ln/>
        </p:spPr>
        <p:txBody>
          <a:bodyPr wrap="square" rtlCol="0" anchor="ctr"/>
          <a:lstStyle/>
          <a:p>
            <a:pPr indent="0" marL="0">
              <a:buNone/>
            </a:pPr>
            <a:r>
              <a:rPr lang="en-US" sz="1250" b="1" dirty="0">
                <a:solidFill>
                  <a:srgbClr val="E8EDF3"/>
                </a:solidFill>
                <a:latin typeface="Calibri" pitchFamily="34" charset="0"/>
                <a:ea typeface="Calibri" pitchFamily="34" charset="-122"/>
                <a:cs typeface="Calibri" pitchFamily="34" charset="-120"/>
              </a:rPr>
              <a:t>Built by Malavika Krishna, for the NeoStats AI Engineer Internship</a:t>
            </a:r>
            <a:endParaRPr lang="en-US" sz="1250" dirty="0"/>
          </a:p>
        </p:txBody>
      </p:sp>
      <p:sp>
        <p:nvSpPr>
          <p:cNvPr id="6" name="Text 4"/>
          <p:cNvSpPr txBox="1"/>
          <p:nvPr/>
        </p:nvSpPr>
        <p:spPr>
          <a:xfrm>
            <a:off x="822960" y="6309360"/>
            <a:ext cx="9601200" cy="365760"/>
          </a:xfrm>
          <a:prstGeom prst="rect">
            <a:avLst/>
          </a:prstGeom>
          <a:noFill/>
          <a:ln/>
        </p:spPr>
        <p:txBody>
          <a:bodyPr wrap="square" rtlCol="0" anchor="ctr"/>
          <a:lstStyle/>
          <a:p>
            <a:pPr indent="0" marL="0">
              <a:buNone/>
            </a:pPr>
            <a:r>
              <a:rPr lang="en-US" sz="1100" i="1" dirty="0">
                <a:solidFill>
                  <a:srgbClr val="8A97AB"/>
                </a:solidFill>
                <a:latin typeface="Calibri" pitchFamily="34" charset="0"/>
                <a:ea typeface="Calibri" pitchFamily="34" charset="-122"/>
                <a:cs typeface="Calibri" pitchFamily="34" charset="-120"/>
              </a:rPr>
              <a:t>Candidate Assignment — every number in this deck comes from a real run against the actual dataset, not a mockup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320040"/>
          </a:xfrm>
          <a:prstGeom prst="rect">
            <a:avLst/>
          </a:prstGeom>
          <a:noFill/>
          <a:ln/>
        </p:spPr>
        <p:txBody>
          <a:bodyPr wrap="square" rtlCol="0" anchor="ctr"/>
          <a:lstStyle/>
          <a:p>
            <a:pPr indent="0" marL="0">
              <a:buNone/>
            </a:pPr>
            <a:r>
              <a:rPr lang="en-US" sz="1200" b="1" dirty="0">
                <a:solidFill>
                  <a:srgbClr val="3FA796"/>
                </a:solidFill>
                <a:latin typeface="Calibri" pitchFamily="34" charset="0"/>
                <a:ea typeface="Calibri" pitchFamily="34" charset="-122"/>
                <a:cs typeface="Calibri" pitchFamily="34" charset="-120"/>
              </a:rPr>
              <a:t>MY APPROACH</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E8EDF3"/>
                </a:solidFill>
                <a:latin typeface="Calibri" pitchFamily="34" charset="0"/>
                <a:ea typeface="Calibri" pitchFamily="34" charset="-122"/>
                <a:cs typeface="Calibri" pitchFamily="34" charset="-120"/>
              </a:rPr>
              <a:t>How I thought about this problem</a:t>
            </a:r>
            <a:endParaRPr lang="en-US" sz="3000" dirty="0"/>
          </a:p>
        </p:txBody>
      </p:sp>
      <p:sp>
        <p:nvSpPr>
          <p:cNvPr id="4" name="Text 2"/>
          <p:cNvSpPr txBox="1"/>
          <p:nvPr/>
        </p:nvSpPr>
        <p:spPr>
          <a:xfrm>
            <a:off x="548640" y="1417320"/>
            <a:ext cx="11064240" cy="457200"/>
          </a:xfrm>
          <a:prstGeom prst="rect">
            <a:avLst/>
          </a:prstGeom>
          <a:noFill/>
          <a:ln/>
        </p:spPr>
        <p:txBody>
          <a:bodyPr wrap="square" rtlCol="0" anchor="ctr"/>
          <a:lstStyle/>
          <a:p>
            <a:pPr indent="0" marL="0">
              <a:buNone/>
            </a:pPr>
            <a:r>
              <a:rPr lang="en-US" sz="1300" i="1" dirty="0">
                <a:solidFill>
                  <a:srgbClr val="8A97AB"/>
                </a:solidFill>
                <a:latin typeface="Calibri" pitchFamily="34" charset="0"/>
                <a:ea typeface="Calibri" pitchFamily="34" charset="-122"/>
                <a:cs typeface="Calibri" pitchFamily="34" charset="-120"/>
              </a:rPr>
              <a:t>Most take-home submissions on this dataset stop at a single CSV and a model score. I wanted to build something a real credit team could actually use — so I optimized for four things:</a:t>
            </a:r>
            <a:endParaRPr lang="en-US" sz="1300" dirty="0"/>
          </a:p>
        </p:txBody>
      </p:sp>
      <p:sp>
        <p:nvSpPr>
          <p:cNvPr id="5" name="Shape 3"/>
          <p:cNvSpPr/>
          <p:nvPr/>
        </p:nvSpPr>
        <p:spPr>
          <a:xfrm>
            <a:off x="548640" y="2057400"/>
            <a:ext cx="11064240" cy="868680"/>
          </a:xfrm>
          <a:prstGeom prst="roundRect">
            <a:avLst>
              <a:gd name="adj" fmla="val 8421"/>
            </a:avLst>
          </a:prstGeom>
          <a:solidFill>
            <a:srgbClr val="131F30"/>
          </a:solidFill>
          <a:ln w="12700">
            <a:solidFill>
              <a:srgbClr val="2A3A50"/>
            </a:solidFill>
            <a:prstDash val="solid"/>
          </a:ln>
        </p:spPr>
      </p:sp>
      <p:sp>
        <p:nvSpPr>
          <p:cNvPr id="6" name="Text 4"/>
          <p:cNvSpPr txBox="1"/>
          <p:nvPr/>
        </p:nvSpPr>
        <p:spPr>
          <a:xfrm>
            <a:off x="868680" y="2148840"/>
            <a:ext cx="3657600" cy="365760"/>
          </a:xfrm>
          <a:prstGeom prst="rect">
            <a:avLst/>
          </a:prstGeom>
          <a:noFill/>
          <a:ln/>
        </p:spPr>
        <p:txBody>
          <a:bodyPr wrap="square" rtlCol="0" anchor="ctr"/>
          <a:lstStyle/>
          <a:p>
            <a:pPr indent="0" marL="0">
              <a:buNone/>
            </a:pPr>
            <a:r>
              <a:rPr lang="en-US" sz="1500" b="1" dirty="0">
                <a:solidFill>
                  <a:srgbClr val="3FA796"/>
                </a:solidFill>
                <a:latin typeface="Calibri" pitchFamily="34" charset="0"/>
                <a:ea typeface="Calibri" pitchFamily="34" charset="-122"/>
                <a:cs typeface="Calibri" pitchFamily="34" charset="-120"/>
              </a:rPr>
              <a:t>Multi-table data</a:t>
            </a:r>
            <a:endParaRPr lang="en-US" sz="1500" dirty="0"/>
          </a:p>
        </p:txBody>
      </p:sp>
      <p:sp>
        <p:nvSpPr>
          <p:cNvPr id="7" name="Text 5"/>
          <p:cNvSpPr txBox="1"/>
          <p:nvPr/>
        </p:nvSpPr>
        <p:spPr>
          <a:xfrm>
            <a:off x="868680" y="2478024"/>
            <a:ext cx="10424160" cy="384048"/>
          </a:xfrm>
          <a:prstGeom prst="rect">
            <a:avLst/>
          </a:prstGeom>
          <a:noFill/>
          <a:ln/>
        </p:spPr>
        <p:txBody>
          <a:bodyPr wrap="square" rtlCol="0" anchor="ctr"/>
          <a:lstStyle/>
          <a:p>
            <a:pPr indent="0" marL="0">
              <a:buNone/>
            </a:pPr>
            <a:r>
              <a:rPr lang="en-US" sz="1250" dirty="0">
                <a:solidFill>
                  <a:srgbClr val="8A97AB"/>
                </a:solidFill>
                <a:latin typeface="Calibri" pitchFamily="34" charset="0"/>
                <a:ea typeface="Calibri" pitchFamily="34" charset="-122"/>
                <a:cs typeface="Calibri" pitchFamily="34" charset="-120"/>
              </a:rPr>
              <a:t>Joined application, bureau, prior-loan, and monthly repayment history — not just a single table</a:t>
            </a:r>
            <a:endParaRPr lang="en-US" sz="1250" dirty="0"/>
          </a:p>
        </p:txBody>
      </p:sp>
      <p:sp>
        <p:nvSpPr>
          <p:cNvPr id="8" name="Shape 6"/>
          <p:cNvSpPr/>
          <p:nvPr/>
        </p:nvSpPr>
        <p:spPr>
          <a:xfrm>
            <a:off x="548640" y="3063240"/>
            <a:ext cx="11064240" cy="868680"/>
          </a:xfrm>
          <a:prstGeom prst="roundRect">
            <a:avLst>
              <a:gd name="adj" fmla="val 8421"/>
            </a:avLst>
          </a:prstGeom>
          <a:solidFill>
            <a:srgbClr val="131F30"/>
          </a:solidFill>
          <a:ln w="12700">
            <a:solidFill>
              <a:srgbClr val="2A3A50"/>
            </a:solidFill>
            <a:prstDash val="solid"/>
          </a:ln>
        </p:spPr>
      </p:sp>
      <p:sp>
        <p:nvSpPr>
          <p:cNvPr id="9" name="Text 7"/>
          <p:cNvSpPr txBox="1"/>
          <p:nvPr/>
        </p:nvSpPr>
        <p:spPr>
          <a:xfrm>
            <a:off x="868680" y="3154680"/>
            <a:ext cx="3657600" cy="365760"/>
          </a:xfrm>
          <a:prstGeom prst="rect">
            <a:avLst/>
          </a:prstGeom>
          <a:noFill/>
          <a:ln/>
        </p:spPr>
        <p:txBody>
          <a:bodyPr wrap="square" rtlCol="0" anchor="ctr"/>
          <a:lstStyle/>
          <a:p>
            <a:pPr indent="0" marL="0">
              <a:buNone/>
            </a:pPr>
            <a:r>
              <a:rPr lang="en-US" sz="1500" b="1" dirty="0">
                <a:solidFill>
                  <a:srgbClr val="3FA796"/>
                </a:solidFill>
                <a:latin typeface="Calibri" pitchFamily="34" charset="0"/>
                <a:ea typeface="Calibri" pitchFamily="34" charset="-122"/>
                <a:cs typeface="Calibri" pitchFamily="34" charset="-120"/>
              </a:rPr>
              <a:t>Explainable by design</a:t>
            </a:r>
            <a:endParaRPr lang="en-US" sz="1500" dirty="0"/>
          </a:p>
        </p:txBody>
      </p:sp>
      <p:sp>
        <p:nvSpPr>
          <p:cNvPr id="10" name="Text 8"/>
          <p:cNvSpPr txBox="1"/>
          <p:nvPr/>
        </p:nvSpPr>
        <p:spPr>
          <a:xfrm>
            <a:off x="868680" y="3483864"/>
            <a:ext cx="10424160" cy="384048"/>
          </a:xfrm>
          <a:prstGeom prst="rect">
            <a:avLst/>
          </a:prstGeom>
          <a:noFill/>
          <a:ln/>
        </p:spPr>
        <p:txBody>
          <a:bodyPr wrap="square" rtlCol="0" anchor="ctr"/>
          <a:lstStyle/>
          <a:p>
            <a:pPr indent="0" marL="0">
              <a:buNone/>
            </a:pPr>
            <a:r>
              <a:rPr lang="en-US" sz="1250" dirty="0">
                <a:solidFill>
                  <a:srgbClr val="8A97AB"/>
                </a:solidFill>
                <a:latin typeface="Calibri" pitchFamily="34" charset="0"/>
                <a:ea typeface="Calibri" pitchFamily="34" charset="-122"/>
                <a:cs typeface="Calibri" pitchFamily="34" charset="-120"/>
              </a:rPr>
              <a:t>Every prediction is backed by SHAP reasoning and auditable business rules, not a black box</a:t>
            </a:r>
            <a:endParaRPr lang="en-US" sz="1250" dirty="0"/>
          </a:p>
        </p:txBody>
      </p:sp>
      <p:sp>
        <p:nvSpPr>
          <p:cNvPr id="11" name="Shape 9"/>
          <p:cNvSpPr/>
          <p:nvPr/>
        </p:nvSpPr>
        <p:spPr>
          <a:xfrm>
            <a:off x="548640" y="4069080"/>
            <a:ext cx="11064240" cy="868680"/>
          </a:xfrm>
          <a:prstGeom prst="roundRect">
            <a:avLst>
              <a:gd name="adj" fmla="val 8421"/>
            </a:avLst>
          </a:prstGeom>
          <a:solidFill>
            <a:srgbClr val="131F30"/>
          </a:solidFill>
          <a:ln w="12700">
            <a:solidFill>
              <a:srgbClr val="2A3A50"/>
            </a:solidFill>
            <a:prstDash val="solid"/>
          </a:ln>
        </p:spPr>
      </p:sp>
      <p:sp>
        <p:nvSpPr>
          <p:cNvPr id="12" name="Text 10"/>
          <p:cNvSpPr txBox="1"/>
          <p:nvPr/>
        </p:nvSpPr>
        <p:spPr>
          <a:xfrm>
            <a:off x="868680" y="4160520"/>
            <a:ext cx="3657600" cy="365760"/>
          </a:xfrm>
          <a:prstGeom prst="rect">
            <a:avLst/>
          </a:prstGeom>
          <a:noFill/>
          <a:ln/>
        </p:spPr>
        <p:txBody>
          <a:bodyPr wrap="square" rtlCol="0" anchor="ctr"/>
          <a:lstStyle/>
          <a:p>
            <a:pPr indent="0" marL="0">
              <a:buNone/>
            </a:pPr>
            <a:r>
              <a:rPr lang="en-US" sz="1500" b="1" dirty="0">
                <a:solidFill>
                  <a:srgbClr val="3FA796"/>
                </a:solidFill>
                <a:latin typeface="Calibri" pitchFamily="34" charset="0"/>
                <a:ea typeface="Calibri" pitchFamily="34" charset="-122"/>
                <a:cs typeface="Calibri" pitchFamily="34" charset="-120"/>
              </a:rPr>
              <a:t>Talk to the data</a:t>
            </a:r>
            <a:endParaRPr lang="en-US" sz="1500" dirty="0"/>
          </a:p>
        </p:txBody>
      </p:sp>
      <p:sp>
        <p:nvSpPr>
          <p:cNvPr id="13" name="Text 11"/>
          <p:cNvSpPr txBox="1"/>
          <p:nvPr/>
        </p:nvSpPr>
        <p:spPr>
          <a:xfrm>
            <a:off x="868680" y="4489704"/>
            <a:ext cx="10424160" cy="384048"/>
          </a:xfrm>
          <a:prstGeom prst="rect">
            <a:avLst/>
          </a:prstGeom>
          <a:noFill/>
          <a:ln/>
        </p:spPr>
        <p:txBody>
          <a:bodyPr wrap="square" rtlCol="0" anchor="ctr"/>
          <a:lstStyle/>
          <a:p>
            <a:pPr indent="0" marL="0">
              <a:buNone/>
            </a:pPr>
            <a:r>
              <a:rPr lang="en-US" sz="1250" dirty="0">
                <a:solidFill>
                  <a:srgbClr val="8A97AB"/>
                </a:solidFill>
                <a:latin typeface="Calibri" pitchFamily="34" charset="0"/>
                <a:ea typeface="Calibri" pitchFamily="34" charset="-122"/>
                <a:cs typeface="Calibri" pitchFamily="34" charset="-120"/>
              </a:rPr>
              <a:t>A guardrailed NL-to-SQL chatbot for non-technical stakeholders to explore the data directly</a:t>
            </a:r>
            <a:endParaRPr lang="en-US" sz="1250" dirty="0"/>
          </a:p>
        </p:txBody>
      </p:sp>
      <p:sp>
        <p:nvSpPr>
          <p:cNvPr id="14" name="Shape 12"/>
          <p:cNvSpPr/>
          <p:nvPr/>
        </p:nvSpPr>
        <p:spPr>
          <a:xfrm>
            <a:off x="548640" y="5074920"/>
            <a:ext cx="11064240" cy="868680"/>
          </a:xfrm>
          <a:prstGeom prst="roundRect">
            <a:avLst>
              <a:gd name="adj" fmla="val 8421"/>
            </a:avLst>
          </a:prstGeom>
          <a:solidFill>
            <a:srgbClr val="131F30"/>
          </a:solidFill>
          <a:ln w="12700">
            <a:solidFill>
              <a:srgbClr val="2A3A50"/>
            </a:solidFill>
            <a:prstDash val="solid"/>
          </a:ln>
        </p:spPr>
      </p:sp>
      <p:sp>
        <p:nvSpPr>
          <p:cNvPr id="15" name="Text 13"/>
          <p:cNvSpPr txBox="1"/>
          <p:nvPr/>
        </p:nvSpPr>
        <p:spPr>
          <a:xfrm>
            <a:off x="868680" y="5166360"/>
            <a:ext cx="3657600" cy="365760"/>
          </a:xfrm>
          <a:prstGeom prst="rect">
            <a:avLst/>
          </a:prstGeom>
          <a:noFill/>
          <a:ln/>
        </p:spPr>
        <p:txBody>
          <a:bodyPr wrap="square" rtlCol="0" anchor="ctr"/>
          <a:lstStyle/>
          <a:p>
            <a:pPr indent="0" marL="0">
              <a:buNone/>
            </a:pPr>
            <a:r>
              <a:rPr lang="en-US" sz="1500" b="1" dirty="0">
                <a:solidFill>
                  <a:srgbClr val="3FA796"/>
                </a:solidFill>
                <a:latin typeface="Calibri" pitchFamily="34" charset="0"/>
                <a:ea typeface="Calibri" pitchFamily="34" charset="-122"/>
                <a:cs typeface="Calibri" pitchFamily="34" charset="-120"/>
              </a:rPr>
              <a:t>Ship it</a:t>
            </a:r>
            <a:endParaRPr lang="en-US" sz="1500" dirty="0"/>
          </a:p>
        </p:txBody>
      </p:sp>
      <p:sp>
        <p:nvSpPr>
          <p:cNvPr id="16" name="Text 14"/>
          <p:cNvSpPr txBox="1"/>
          <p:nvPr/>
        </p:nvSpPr>
        <p:spPr>
          <a:xfrm>
            <a:off x="868680" y="5495544"/>
            <a:ext cx="10424160" cy="384048"/>
          </a:xfrm>
          <a:prstGeom prst="rect">
            <a:avLst/>
          </a:prstGeom>
          <a:noFill/>
          <a:ln/>
        </p:spPr>
        <p:txBody>
          <a:bodyPr wrap="square" rtlCol="0" anchor="ctr"/>
          <a:lstStyle/>
          <a:p>
            <a:pPr indent="0" marL="0">
              <a:buNone/>
            </a:pPr>
            <a:r>
              <a:rPr lang="en-US" sz="1250" dirty="0">
                <a:solidFill>
                  <a:srgbClr val="8A97AB"/>
                </a:solidFill>
                <a:latin typeface="Calibri" pitchFamily="34" charset="0"/>
                <a:ea typeface="Calibri" pitchFamily="34" charset="-122"/>
                <a:cs typeface="Calibri" pitchFamily="34" charset="-120"/>
              </a:rPr>
              <a:t>Fully Dockerized, single-command deployment</a:t>
            </a:r>
            <a:endParaRPr lang="en-US" sz="1250" dirty="0"/>
          </a:p>
        </p:txBody>
      </p:sp>
      <p:sp>
        <p:nvSpPr>
          <p:cNvPr id="17" name="Text 15"/>
          <p:cNvSpPr txBox="1"/>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8A97A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320040"/>
          </a:xfrm>
          <a:prstGeom prst="rect">
            <a:avLst/>
          </a:prstGeom>
          <a:noFill/>
          <a:ln/>
        </p:spPr>
        <p:txBody>
          <a:bodyPr wrap="square" rtlCol="0" anchor="ctr"/>
          <a:lstStyle/>
          <a:p>
            <a:pPr indent="0" marL="0">
              <a:buNone/>
            </a:pPr>
            <a:r>
              <a:rPr lang="en-US" sz="1200" b="1" dirty="0">
                <a:solidFill>
                  <a:srgbClr val="3FA796"/>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E8EDF3"/>
                </a:solidFill>
                <a:latin typeface="Calibri" pitchFamily="34" charset="0"/>
                <a:ea typeface="Calibri" pitchFamily="34" charset="-122"/>
                <a:cs typeface="Calibri" pitchFamily="34" charset="-120"/>
              </a:rPr>
              <a:t>How the pieces fit together</a:t>
            </a:r>
            <a:endParaRPr lang="en-US" sz="3000" dirty="0"/>
          </a:p>
        </p:txBody>
      </p:sp>
      <p:pic>
        <p:nvPicPr>
          <p:cNvPr id="4" name="Image 0" descr="/home/claude/credit_risk_platform/scripts/../documents/architecture_diagram.png">    </p:cNvPr>
          <p:cNvPicPr>
            <a:picLocks noChangeAspect="1"/>
          </p:cNvPicPr>
          <p:nvPr/>
        </p:nvPicPr>
        <p:blipFill>
          <a:blip r:embed="rId1"/>
          <a:stretch>
            <a:fillRect/>
          </a:stretch>
        </p:blipFill>
        <p:spPr>
          <a:xfrm>
            <a:off x="457200" y="1371600"/>
            <a:ext cx="11247120" cy="5166360"/>
          </a:xfrm>
          <a:prstGeom prst="rect">
            <a:avLst/>
          </a:prstGeom>
        </p:spPr>
      </p:pic>
      <p:sp>
        <p:nvSpPr>
          <p:cNvPr id="5" name="Text 2"/>
          <p:cNvSpPr txBox="1"/>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8A97A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320040"/>
          </a:xfrm>
          <a:prstGeom prst="rect">
            <a:avLst/>
          </a:prstGeom>
          <a:noFill/>
          <a:ln/>
        </p:spPr>
        <p:txBody>
          <a:bodyPr wrap="square" rtlCol="0" anchor="ctr"/>
          <a:lstStyle/>
          <a:p>
            <a:pPr indent="0" marL="0">
              <a:buNone/>
            </a:pPr>
            <a:r>
              <a:rPr lang="en-US" sz="1200" b="1" dirty="0">
                <a:solidFill>
                  <a:srgbClr val="3FA796"/>
                </a:solidFill>
                <a:latin typeface="Calibri" pitchFamily="34" charset="0"/>
                <a:ea typeface="Calibri" pitchFamily="34" charset="-122"/>
                <a:cs typeface="Calibri" pitchFamily="34" charset="-120"/>
              </a:rPr>
              <a:t>DATA</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E8EDF3"/>
                </a:solidFill>
                <a:latin typeface="Calibri" pitchFamily="34" charset="0"/>
                <a:ea typeface="Calibri" pitchFamily="34" charset="-122"/>
                <a:cs typeface="Calibri" pitchFamily="34" charset="-120"/>
              </a:rPr>
              <a:t>Multi-table feature engineering, not just one CSV</a:t>
            </a:r>
            <a:endParaRPr lang="en-US" sz="3000" dirty="0"/>
          </a:p>
        </p:txBody>
      </p:sp>
      <p:sp>
        <p:nvSpPr>
          <p:cNvPr id="4" name="Text 2"/>
          <p:cNvSpPr txBox="1"/>
          <p:nvPr/>
        </p:nvSpPr>
        <p:spPr>
          <a:xfrm>
            <a:off x="548640" y="1417320"/>
            <a:ext cx="11064240" cy="640080"/>
          </a:xfrm>
          <a:prstGeom prst="rect">
            <a:avLst/>
          </a:prstGeom>
          <a:noFill/>
          <a:ln/>
        </p:spPr>
        <p:txBody>
          <a:bodyPr wrap="square" rtlCol="0" anchor="ctr"/>
          <a:lstStyle/>
          <a:p>
            <a:pPr indent="0" marL="0">
              <a:buNone/>
            </a:pPr>
            <a:r>
              <a:rPr lang="en-US" sz="1350" dirty="0">
                <a:solidFill>
                  <a:srgbClr val="8A97AB"/>
                </a:solidFill>
                <a:latin typeface="Calibri" pitchFamily="34" charset="0"/>
                <a:ea typeface="Calibri" pitchFamily="34" charset="-122"/>
                <a:cs typeface="Calibri" pitchFamily="34" charset="-120"/>
              </a:rPr>
              <a:t>Most submissions on this dataset use application_train.csv alone. This platform joins five additional tables — aggregated in SQL for speed on tables up to 27M rows — to capture signal a single-table model would miss.</a:t>
            </a:r>
            <a:endParaRPr lang="en-US" sz="1350" dirty="0"/>
          </a:p>
        </p:txBody>
      </p:sp>
      <p:sp>
        <p:nvSpPr>
          <p:cNvPr id="5" name="Shape 3"/>
          <p:cNvSpPr/>
          <p:nvPr/>
        </p:nvSpPr>
        <p:spPr>
          <a:xfrm>
            <a:off x="457200" y="2331720"/>
            <a:ext cx="2212848" cy="3291840"/>
          </a:xfrm>
          <a:prstGeom prst="roundRect">
            <a:avLst>
              <a:gd name="adj" fmla="val 3306"/>
            </a:avLst>
          </a:prstGeom>
          <a:solidFill>
            <a:srgbClr val="131F30"/>
          </a:solidFill>
          <a:ln w="12700">
            <a:solidFill>
              <a:srgbClr val="3FA796"/>
            </a:solidFill>
            <a:prstDash val="solid"/>
          </a:ln>
        </p:spPr>
      </p:sp>
      <p:sp>
        <p:nvSpPr>
          <p:cNvPr id="6" name="Text 4"/>
          <p:cNvSpPr txBox="1"/>
          <p:nvPr/>
        </p:nvSpPr>
        <p:spPr>
          <a:xfrm>
            <a:off x="594360" y="2514600"/>
            <a:ext cx="1938528" cy="685800"/>
          </a:xfrm>
          <a:prstGeom prst="rect">
            <a:avLst/>
          </a:prstGeom>
          <a:noFill/>
          <a:ln/>
        </p:spPr>
        <p:txBody>
          <a:bodyPr wrap="square" rtlCol="0" anchor="ctr"/>
          <a:lstStyle/>
          <a:p>
            <a:pPr indent="0" marL="0">
              <a:buNone/>
            </a:pPr>
            <a:r>
              <a:rPr lang="en-US" sz="1300" b="1" dirty="0">
                <a:solidFill>
                  <a:srgbClr val="E8EDF3"/>
                </a:solidFill>
                <a:latin typeface="Calibri" pitchFamily="34" charset="0"/>
                <a:ea typeface="Calibri" pitchFamily="34" charset="-122"/>
                <a:cs typeface="Calibri" pitchFamily="34" charset="-120"/>
              </a:rPr>
              <a:t>applications</a:t>
            </a:r>
            <a:endParaRPr lang="en-US" sz="1300" dirty="0"/>
          </a:p>
        </p:txBody>
      </p:sp>
      <p:sp>
        <p:nvSpPr>
          <p:cNvPr id="7" name="Text 5"/>
          <p:cNvSpPr txBox="1"/>
          <p:nvPr/>
        </p:nvSpPr>
        <p:spPr>
          <a:xfrm>
            <a:off x="594360" y="3154680"/>
            <a:ext cx="1938528" cy="365760"/>
          </a:xfrm>
          <a:prstGeom prst="rect">
            <a:avLst/>
          </a:prstGeom>
          <a:noFill/>
          <a:ln/>
        </p:spPr>
        <p:txBody>
          <a:bodyPr wrap="square" rtlCol="0" anchor="ctr"/>
          <a:lstStyle/>
          <a:p>
            <a:pPr indent="0" marL="0">
              <a:buNone/>
            </a:pPr>
            <a:r>
              <a:rPr lang="en-US" sz="1050" dirty="0">
                <a:solidFill>
                  <a:srgbClr val="3FA796"/>
                </a:solidFill>
                <a:latin typeface="Consolas" pitchFamily="34" charset="0"/>
                <a:ea typeface="Consolas" pitchFamily="34" charset="-122"/>
                <a:cs typeface="Consolas" pitchFamily="34" charset="-120"/>
              </a:rPr>
              <a:t>307,511 rows</a:t>
            </a:r>
            <a:endParaRPr lang="en-US" sz="1050" dirty="0"/>
          </a:p>
        </p:txBody>
      </p:sp>
      <p:sp>
        <p:nvSpPr>
          <p:cNvPr id="8" name="Text 6"/>
          <p:cNvSpPr txBox="1"/>
          <p:nvPr/>
        </p:nvSpPr>
        <p:spPr>
          <a:xfrm>
            <a:off x="594360" y="3566160"/>
            <a:ext cx="1938528" cy="1920240"/>
          </a:xfrm>
          <a:prstGeom prst="rect">
            <a:avLst/>
          </a:prstGeom>
          <a:noFill/>
          <a:ln/>
        </p:spPr>
        <p:txBody>
          <a:bodyPr wrap="square" rtlCol="0" anchor="ctr"/>
          <a:lstStyle/>
          <a:p>
            <a:pPr indent="0" marL="0">
              <a:buNone/>
            </a:pPr>
            <a:r>
              <a:rPr lang="en-US" sz="1050" dirty="0">
                <a:solidFill>
                  <a:srgbClr val="8A97AB"/>
                </a:solidFill>
                <a:latin typeface="Calibri" pitchFamily="34" charset="0"/>
                <a:ea typeface="Calibri" pitchFamily="34" charset="-122"/>
                <a:cs typeface="Calibri" pitchFamily="34" charset="-120"/>
              </a:rPr>
              <a:t>Core applicant demographics &amp; loan terms</a:t>
            </a:r>
            <a:endParaRPr lang="en-US" sz="1050" dirty="0"/>
          </a:p>
        </p:txBody>
      </p:sp>
      <p:sp>
        <p:nvSpPr>
          <p:cNvPr id="9" name="Shape 7"/>
          <p:cNvSpPr/>
          <p:nvPr/>
        </p:nvSpPr>
        <p:spPr>
          <a:xfrm>
            <a:off x="2834640" y="2331720"/>
            <a:ext cx="2212848" cy="3291840"/>
          </a:xfrm>
          <a:prstGeom prst="roundRect">
            <a:avLst>
              <a:gd name="adj" fmla="val 3306"/>
            </a:avLst>
          </a:prstGeom>
          <a:solidFill>
            <a:srgbClr val="131F30"/>
          </a:solidFill>
          <a:ln w="12700">
            <a:solidFill>
              <a:srgbClr val="3FA796"/>
            </a:solidFill>
            <a:prstDash val="solid"/>
          </a:ln>
        </p:spPr>
      </p:sp>
      <p:sp>
        <p:nvSpPr>
          <p:cNvPr id="10" name="Text 8"/>
          <p:cNvSpPr txBox="1"/>
          <p:nvPr/>
        </p:nvSpPr>
        <p:spPr>
          <a:xfrm>
            <a:off x="2971800" y="2514600"/>
            <a:ext cx="1938528" cy="685800"/>
          </a:xfrm>
          <a:prstGeom prst="rect">
            <a:avLst/>
          </a:prstGeom>
          <a:noFill/>
          <a:ln/>
        </p:spPr>
        <p:txBody>
          <a:bodyPr wrap="square" rtlCol="0" anchor="ctr"/>
          <a:lstStyle/>
          <a:p>
            <a:pPr indent="0" marL="0">
              <a:buNone/>
            </a:pPr>
            <a:r>
              <a:rPr lang="en-US" sz="1300" b="1" dirty="0">
                <a:solidFill>
                  <a:srgbClr val="E8EDF3"/>
                </a:solidFill>
                <a:latin typeface="Calibri" pitchFamily="34" charset="0"/>
                <a:ea typeface="Calibri" pitchFamily="34" charset="-122"/>
                <a:cs typeface="Calibri" pitchFamily="34" charset="-120"/>
              </a:rPr>
              <a:t>bureau + bureau_balance</a:t>
            </a:r>
            <a:endParaRPr lang="en-US" sz="1300" dirty="0"/>
          </a:p>
        </p:txBody>
      </p:sp>
      <p:sp>
        <p:nvSpPr>
          <p:cNvPr id="11" name="Text 9"/>
          <p:cNvSpPr txBox="1"/>
          <p:nvPr/>
        </p:nvSpPr>
        <p:spPr>
          <a:xfrm>
            <a:off x="2971800" y="3154680"/>
            <a:ext cx="1938528" cy="365760"/>
          </a:xfrm>
          <a:prstGeom prst="rect">
            <a:avLst/>
          </a:prstGeom>
          <a:noFill/>
          <a:ln/>
        </p:spPr>
        <p:txBody>
          <a:bodyPr wrap="square" rtlCol="0" anchor="ctr"/>
          <a:lstStyle/>
          <a:p>
            <a:pPr indent="0" marL="0">
              <a:buNone/>
            </a:pPr>
            <a:r>
              <a:rPr lang="en-US" sz="1050" dirty="0">
                <a:solidFill>
                  <a:srgbClr val="3FA796"/>
                </a:solidFill>
                <a:latin typeface="Consolas" pitchFamily="34" charset="0"/>
                <a:ea typeface="Consolas" pitchFamily="34" charset="-122"/>
                <a:cs typeface="Consolas" pitchFamily="34" charset="-120"/>
              </a:rPr>
              <a:t>1.7M + 27.3M rows</a:t>
            </a:r>
            <a:endParaRPr lang="en-US" sz="1050" dirty="0"/>
          </a:p>
        </p:txBody>
      </p:sp>
      <p:sp>
        <p:nvSpPr>
          <p:cNvPr id="12" name="Text 10"/>
          <p:cNvSpPr txBox="1"/>
          <p:nvPr/>
        </p:nvSpPr>
        <p:spPr>
          <a:xfrm>
            <a:off x="2971800" y="3566160"/>
            <a:ext cx="1938528" cy="1920240"/>
          </a:xfrm>
          <a:prstGeom prst="rect">
            <a:avLst/>
          </a:prstGeom>
          <a:noFill/>
          <a:ln/>
        </p:spPr>
        <p:txBody>
          <a:bodyPr wrap="square" rtlCol="0" anchor="ctr"/>
          <a:lstStyle/>
          <a:p>
            <a:pPr indent="0" marL="0">
              <a:buNone/>
            </a:pPr>
            <a:r>
              <a:rPr lang="en-US" sz="1050" dirty="0">
                <a:solidFill>
                  <a:srgbClr val="8A97AB"/>
                </a:solidFill>
                <a:latin typeface="Calibri" pitchFamily="34" charset="0"/>
                <a:ea typeface="Calibri" pitchFamily="34" charset="-122"/>
                <a:cs typeface="Calibri" pitchFamily="34" charset="-120"/>
              </a:rPr>
              <a:t>External credit history &amp; monthly DPD status</a:t>
            </a:r>
            <a:endParaRPr lang="en-US" sz="1050" dirty="0"/>
          </a:p>
        </p:txBody>
      </p:sp>
      <p:sp>
        <p:nvSpPr>
          <p:cNvPr id="13" name="Shape 11"/>
          <p:cNvSpPr/>
          <p:nvPr/>
        </p:nvSpPr>
        <p:spPr>
          <a:xfrm>
            <a:off x="5212080" y="2331720"/>
            <a:ext cx="2212848" cy="3291840"/>
          </a:xfrm>
          <a:prstGeom prst="roundRect">
            <a:avLst>
              <a:gd name="adj" fmla="val 3306"/>
            </a:avLst>
          </a:prstGeom>
          <a:solidFill>
            <a:srgbClr val="131F30"/>
          </a:solidFill>
          <a:ln w="12700">
            <a:solidFill>
              <a:srgbClr val="3FA796"/>
            </a:solidFill>
            <a:prstDash val="solid"/>
          </a:ln>
        </p:spPr>
      </p:sp>
      <p:sp>
        <p:nvSpPr>
          <p:cNvPr id="14" name="Text 12"/>
          <p:cNvSpPr txBox="1"/>
          <p:nvPr/>
        </p:nvSpPr>
        <p:spPr>
          <a:xfrm>
            <a:off x="5349240" y="2514600"/>
            <a:ext cx="1938528" cy="685800"/>
          </a:xfrm>
          <a:prstGeom prst="rect">
            <a:avLst/>
          </a:prstGeom>
          <a:noFill/>
          <a:ln/>
        </p:spPr>
        <p:txBody>
          <a:bodyPr wrap="square" rtlCol="0" anchor="ctr"/>
          <a:lstStyle/>
          <a:p>
            <a:pPr indent="0" marL="0">
              <a:buNone/>
            </a:pPr>
            <a:r>
              <a:rPr lang="en-US" sz="1300" b="1" dirty="0">
                <a:solidFill>
                  <a:srgbClr val="E8EDF3"/>
                </a:solidFill>
                <a:latin typeface="Calibri" pitchFamily="34" charset="0"/>
                <a:ea typeface="Calibri" pitchFamily="34" charset="-122"/>
                <a:cs typeface="Calibri" pitchFamily="34" charset="-120"/>
              </a:rPr>
              <a:t>previous_applications</a:t>
            </a:r>
            <a:endParaRPr lang="en-US" sz="1300" dirty="0"/>
          </a:p>
        </p:txBody>
      </p:sp>
      <p:sp>
        <p:nvSpPr>
          <p:cNvPr id="15" name="Text 13"/>
          <p:cNvSpPr txBox="1"/>
          <p:nvPr/>
        </p:nvSpPr>
        <p:spPr>
          <a:xfrm>
            <a:off x="5349240" y="3154680"/>
            <a:ext cx="1938528" cy="365760"/>
          </a:xfrm>
          <a:prstGeom prst="rect">
            <a:avLst/>
          </a:prstGeom>
          <a:noFill/>
          <a:ln/>
        </p:spPr>
        <p:txBody>
          <a:bodyPr wrap="square" rtlCol="0" anchor="ctr"/>
          <a:lstStyle/>
          <a:p>
            <a:pPr indent="0" marL="0">
              <a:buNone/>
            </a:pPr>
            <a:r>
              <a:rPr lang="en-US" sz="1050" dirty="0">
                <a:solidFill>
                  <a:srgbClr val="3FA796"/>
                </a:solidFill>
                <a:latin typeface="Consolas" pitchFamily="34" charset="0"/>
                <a:ea typeface="Consolas" pitchFamily="34" charset="-122"/>
                <a:cs typeface="Consolas" pitchFamily="34" charset="-120"/>
              </a:rPr>
              <a:t>1.7M rows</a:t>
            </a:r>
            <a:endParaRPr lang="en-US" sz="1050" dirty="0"/>
          </a:p>
        </p:txBody>
      </p:sp>
      <p:sp>
        <p:nvSpPr>
          <p:cNvPr id="16" name="Text 14"/>
          <p:cNvSpPr txBox="1"/>
          <p:nvPr/>
        </p:nvSpPr>
        <p:spPr>
          <a:xfrm>
            <a:off x="5349240" y="3566160"/>
            <a:ext cx="1938528" cy="1920240"/>
          </a:xfrm>
          <a:prstGeom prst="rect">
            <a:avLst/>
          </a:prstGeom>
          <a:noFill/>
          <a:ln/>
        </p:spPr>
        <p:txBody>
          <a:bodyPr wrap="square" rtlCol="0" anchor="ctr"/>
          <a:lstStyle/>
          <a:p>
            <a:pPr indent="0" marL="0">
              <a:buNone/>
            </a:pPr>
            <a:r>
              <a:rPr lang="en-US" sz="1050" dirty="0">
                <a:solidFill>
                  <a:srgbClr val="8A97AB"/>
                </a:solidFill>
                <a:latin typeface="Calibri" pitchFamily="34" charset="0"/>
                <a:ea typeface="Calibri" pitchFamily="34" charset="-122"/>
                <a:cs typeface="Calibri" pitchFamily="34" charset="-120"/>
              </a:rPr>
              <a:t>This applicant's prior loans with the same lender</a:t>
            </a:r>
            <a:endParaRPr lang="en-US" sz="1050" dirty="0"/>
          </a:p>
        </p:txBody>
      </p:sp>
      <p:sp>
        <p:nvSpPr>
          <p:cNvPr id="17" name="Shape 15"/>
          <p:cNvSpPr/>
          <p:nvPr/>
        </p:nvSpPr>
        <p:spPr>
          <a:xfrm>
            <a:off x="7589520" y="2331720"/>
            <a:ext cx="2212848" cy="3291840"/>
          </a:xfrm>
          <a:prstGeom prst="roundRect">
            <a:avLst>
              <a:gd name="adj" fmla="val 3306"/>
            </a:avLst>
          </a:prstGeom>
          <a:solidFill>
            <a:srgbClr val="131F30"/>
          </a:solidFill>
          <a:ln w="12700">
            <a:solidFill>
              <a:srgbClr val="3FA796"/>
            </a:solidFill>
            <a:prstDash val="solid"/>
          </a:ln>
        </p:spPr>
      </p:sp>
      <p:sp>
        <p:nvSpPr>
          <p:cNvPr id="18" name="Text 16"/>
          <p:cNvSpPr txBox="1"/>
          <p:nvPr/>
        </p:nvSpPr>
        <p:spPr>
          <a:xfrm>
            <a:off x="7726680" y="2514600"/>
            <a:ext cx="1938528" cy="685800"/>
          </a:xfrm>
          <a:prstGeom prst="rect">
            <a:avLst/>
          </a:prstGeom>
          <a:noFill/>
          <a:ln/>
        </p:spPr>
        <p:txBody>
          <a:bodyPr wrap="square" rtlCol="0" anchor="ctr"/>
          <a:lstStyle/>
          <a:p>
            <a:pPr indent="0" marL="0">
              <a:buNone/>
            </a:pPr>
            <a:r>
              <a:rPr lang="en-US" sz="1300" b="1" dirty="0">
                <a:solidFill>
                  <a:srgbClr val="E8EDF3"/>
                </a:solidFill>
                <a:latin typeface="Calibri" pitchFamily="34" charset="0"/>
                <a:ea typeface="Calibri" pitchFamily="34" charset="-122"/>
                <a:cs typeface="Calibri" pitchFamily="34" charset="-120"/>
              </a:rPr>
              <a:t>pos_cash_balance</a:t>
            </a:r>
            <a:endParaRPr lang="en-US" sz="1300" dirty="0"/>
          </a:p>
        </p:txBody>
      </p:sp>
      <p:sp>
        <p:nvSpPr>
          <p:cNvPr id="19" name="Text 17"/>
          <p:cNvSpPr txBox="1"/>
          <p:nvPr/>
        </p:nvSpPr>
        <p:spPr>
          <a:xfrm>
            <a:off x="7726680" y="3154680"/>
            <a:ext cx="1938528" cy="365760"/>
          </a:xfrm>
          <a:prstGeom prst="rect">
            <a:avLst/>
          </a:prstGeom>
          <a:noFill/>
          <a:ln/>
        </p:spPr>
        <p:txBody>
          <a:bodyPr wrap="square" rtlCol="0" anchor="ctr"/>
          <a:lstStyle/>
          <a:p>
            <a:pPr indent="0" marL="0">
              <a:buNone/>
            </a:pPr>
            <a:r>
              <a:rPr lang="en-US" sz="1050" dirty="0">
                <a:solidFill>
                  <a:srgbClr val="3FA796"/>
                </a:solidFill>
                <a:latin typeface="Consolas" pitchFamily="34" charset="0"/>
                <a:ea typeface="Consolas" pitchFamily="34" charset="-122"/>
                <a:cs typeface="Consolas" pitchFamily="34" charset="-120"/>
              </a:rPr>
              <a:t>10M rows</a:t>
            </a:r>
            <a:endParaRPr lang="en-US" sz="1050" dirty="0"/>
          </a:p>
        </p:txBody>
      </p:sp>
      <p:sp>
        <p:nvSpPr>
          <p:cNvPr id="20" name="Text 18"/>
          <p:cNvSpPr txBox="1"/>
          <p:nvPr/>
        </p:nvSpPr>
        <p:spPr>
          <a:xfrm>
            <a:off x="7726680" y="3566160"/>
            <a:ext cx="1938528" cy="1920240"/>
          </a:xfrm>
          <a:prstGeom prst="rect">
            <a:avLst/>
          </a:prstGeom>
          <a:noFill/>
          <a:ln/>
        </p:spPr>
        <p:txBody>
          <a:bodyPr wrap="square" rtlCol="0" anchor="ctr"/>
          <a:lstStyle/>
          <a:p>
            <a:pPr indent="0" marL="0">
              <a:buNone/>
            </a:pPr>
            <a:r>
              <a:rPr lang="en-US" sz="1050" dirty="0">
                <a:solidFill>
                  <a:srgbClr val="8A97AB"/>
                </a:solidFill>
                <a:latin typeface="Calibri" pitchFamily="34" charset="0"/>
                <a:ea typeface="Calibri" pitchFamily="34" charset="-122"/>
                <a:cs typeface="Calibri" pitchFamily="34" charset="-120"/>
              </a:rPr>
              <a:t>Monthly days-past-due (DPD) on cash/POS loans</a:t>
            </a:r>
            <a:endParaRPr lang="en-US" sz="1050" dirty="0"/>
          </a:p>
        </p:txBody>
      </p:sp>
      <p:sp>
        <p:nvSpPr>
          <p:cNvPr id="21" name="Shape 19"/>
          <p:cNvSpPr/>
          <p:nvPr/>
        </p:nvSpPr>
        <p:spPr>
          <a:xfrm>
            <a:off x="9966960" y="2331720"/>
            <a:ext cx="2212848" cy="3291840"/>
          </a:xfrm>
          <a:prstGeom prst="roundRect">
            <a:avLst>
              <a:gd name="adj" fmla="val 3306"/>
            </a:avLst>
          </a:prstGeom>
          <a:solidFill>
            <a:srgbClr val="131F30"/>
          </a:solidFill>
          <a:ln w="12700">
            <a:solidFill>
              <a:srgbClr val="3FA796"/>
            </a:solidFill>
            <a:prstDash val="solid"/>
          </a:ln>
        </p:spPr>
      </p:sp>
      <p:sp>
        <p:nvSpPr>
          <p:cNvPr id="22" name="Text 20"/>
          <p:cNvSpPr txBox="1"/>
          <p:nvPr/>
        </p:nvSpPr>
        <p:spPr>
          <a:xfrm>
            <a:off x="10104120" y="2514600"/>
            <a:ext cx="1938528" cy="685800"/>
          </a:xfrm>
          <a:prstGeom prst="rect">
            <a:avLst/>
          </a:prstGeom>
          <a:noFill/>
          <a:ln/>
        </p:spPr>
        <p:txBody>
          <a:bodyPr wrap="square" rtlCol="0" anchor="ctr"/>
          <a:lstStyle/>
          <a:p>
            <a:pPr indent="0" marL="0">
              <a:buNone/>
            </a:pPr>
            <a:r>
              <a:rPr lang="en-US" sz="1300" b="1" dirty="0">
                <a:solidFill>
                  <a:srgbClr val="E8EDF3"/>
                </a:solidFill>
                <a:latin typeface="Calibri" pitchFamily="34" charset="0"/>
                <a:ea typeface="Calibri" pitchFamily="34" charset="-122"/>
                <a:cs typeface="Calibri" pitchFamily="34" charset="-120"/>
              </a:rPr>
              <a:t>credit_card_balance</a:t>
            </a:r>
            <a:endParaRPr lang="en-US" sz="1300" dirty="0"/>
          </a:p>
        </p:txBody>
      </p:sp>
      <p:sp>
        <p:nvSpPr>
          <p:cNvPr id="23" name="Text 21"/>
          <p:cNvSpPr txBox="1"/>
          <p:nvPr/>
        </p:nvSpPr>
        <p:spPr>
          <a:xfrm>
            <a:off x="10104120" y="3154680"/>
            <a:ext cx="1938528" cy="365760"/>
          </a:xfrm>
          <a:prstGeom prst="rect">
            <a:avLst/>
          </a:prstGeom>
          <a:noFill/>
          <a:ln/>
        </p:spPr>
        <p:txBody>
          <a:bodyPr wrap="square" rtlCol="0" anchor="ctr"/>
          <a:lstStyle/>
          <a:p>
            <a:pPr indent="0" marL="0">
              <a:buNone/>
            </a:pPr>
            <a:r>
              <a:rPr lang="en-US" sz="1050" dirty="0">
                <a:solidFill>
                  <a:srgbClr val="3FA796"/>
                </a:solidFill>
                <a:latin typeface="Consolas" pitchFamily="34" charset="0"/>
                <a:ea typeface="Consolas" pitchFamily="34" charset="-122"/>
                <a:cs typeface="Consolas" pitchFamily="34" charset="-120"/>
              </a:rPr>
              <a:t>3.8M rows</a:t>
            </a:r>
            <a:endParaRPr lang="en-US" sz="1050" dirty="0"/>
          </a:p>
        </p:txBody>
      </p:sp>
      <p:sp>
        <p:nvSpPr>
          <p:cNvPr id="24" name="Text 22"/>
          <p:cNvSpPr txBox="1"/>
          <p:nvPr/>
        </p:nvSpPr>
        <p:spPr>
          <a:xfrm>
            <a:off x="10104120" y="3566160"/>
            <a:ext cx="1938528" cy="1920240"/>
          </a:xfrm>
          <a:prstGeom prst="rect">
            <a:avLst/>
          </a:prstGeom>
          <a:noFill/>
          <a:ln/>
        </p:spPr>
        <p:txBody>
          <a:bodyPr wrap="square" rtlCol="0" anchor="ctr"/>
          <a:lstStyle/>
          <a:p>
            <a:pPr indent="0" marL="0">
              <a:buNone/>
            </a:pPr>
            <a:r>
              <a:rPr lang="en-US" sz="1050" dirty="0">
                <a:solidFill>
                  <a:srgbClr val="8A97AB"/>
                </a:solidFill>
                <a:latin typeface="Calibri" pitchFamily="34" charset="0"/>
                <a:ea typeface="Calibri" pitchFamily="34" charset="-122"/>
                <a:cs typeface="Calibri" pitchFamily="34" charset="-120"/>
              </a:rPr>
              <a:t>Monthly card balance &amp; utilization — new default-risk signal</a:t>
            </a:r>
            <a:endParaRPr lang="en-US" sz="1050" dirty="0"/>
          </a:p>
        </p:txBody>
      </p:sp>
      <p:sp>
        <p:nvSpPr>
          <p:cNvPr id="25" name="Text 23"/>
          <p:cNvSpPr txBox="1"/>
          <p:nvPr/>
        </p:nvSpPr>
        <p:spPr>
          <a:xfrm>
            <a:off x="548640" y="5852160"/>
            <a:ext cx="10972800" cy="457200"/>
          </a:xfrm>
          <a:prstGeom prst="rect">
            <a:avLst/>
          </a:prstGeom>
          <a:noFill/>
          <a:ln/>
        </p:spPr>
        <p:txBody>
          <a:bodyPr wrap="square" rtlCol="0" anchor="ctr"/>
          <a:lstStyle/>
          <a:p>
            <a:pPr indent="0" marL="0">
              <a:buNone/>
            </a:pPr>
            <a:r>
              <a:rPr lang="en-US" sz="1300" i="1" dirty="0">
                <a:solidFill>
                  <a:srgbClr val="3FA796"/>
                </a:solidFill>
                <a:latin typeface="Calibri" pitchFamily="34" charset="0"/>
                <a:ea typeface="Calibri" pitchFamily="34" charset="-122"/>
                <a:cs typeface="Calibri" pitchFamily="34" charset="-120"/>
              </a:rPr>
              <a:t>Result: 165 features across 6 tables, feeding a single unified model.</a:t>
            </a:r>
            <a:endParaRPr lang="en-US" sz="1300" dirty="0"/>
          </a:p>
        </p:txBody>
      </p:sp>
      <p:sp>
        <p:nvSpPr>
          <p:cNvPr id="26" name="Text 24"/>
          <p:cNvSpPr txBox="1"/>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8A97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320040"/>
          </a:xfrm>
          <a:prstGeom prst="rect">
            <a:avLst/>
          </a:prstGeom>
          <a:noFill/>
          <a:ln/>
        </p:spPr>
        <p:txBody>
          <a:bodyPr wrap="square" rtlCol="0" anchor="ctr"/>
          <a:lstStyle/>
          <a:p>
            <a:pPr indent="0" marL="0">
              <a:buNone/>
            </a:pPr>
            <a:r>
              <a:rPr lang="en-US" sz="1200" b="1" dirty="0">
                <a:solidFill>
                  <a:srgbClr val="3FA796"/>
                </a:solidFill>
                <a:latin typeface="Calibri" pitchFamily="34" charset="0"/>
                <a:ea typeface="Calibri" pitchFamily="34" charset="-122"/>
                <a:cs typeface="Calibri" pitchFamily="34" charset="-120"/>
              </a:rPr>
              <a:t>EXPLORATORY DATA ANALYSIS</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E8EDF3"/>
                </a:solidFill>
                <a:latin typeface="Calibri" pitchFamily="34" charset="0"/>
                <a:ea typeface="Calibri" pitchFamily="34" charset="-122"/>
                <a:cs typeface="Calibri" pitchFamily="34" charset="-120"/>
              </a:rPr>
              <a:t>What the data says before any model is built</a:t>
            </a:r>
            <a:endParaRPr lang="en-US" sz="3000" dirty="0"/>
          </a:p>
        </p:txBody>
      </p:sp>
      <p:pic>
        <p:nvPicPr>
          <p:cNvPr id="4" name="Image 0" descr="/home/claude/credit_risk_platform/scripts/../notebooks/eda_charts/01_target_distribution.png">    </p:cNvPr>
          <p:cNvPicPr>
            <a:picLocks noChangeAspect="1"/>
          </p:cNvPicPr>
          <p:nvPr/>
        </p:nvPicPr>
        <p:blipFill>
          <a:blip r:embed="rId1"/>
          <a:stretch>
            <a:fillRect/>
          </a:stretch>
        </p:blipFill>
        <p:spPr>
          <a:xfrm>
            <a:off x="457200" y="1371600"/>
            <a:ext cx="5303520" cy="3200400"/>
          </a:xfrm>
          <a:prstGeom prst="rect">
            <a:avLst/>
          </a:prstGeom>
        </p:spPr>
      </p:pic>
      <p:pic>
        <p:nvPicPr>
          <p:cNvPr id="5" name="Image 1" descr="/home/claude/credit_risk_platform/scripts/../notebooks/eda_charts/04_default_by_bureau_overdue.png">    </p:cNvPr>
          <p:cNvPicPr>
            <a:picLocks noChangeAspect="1"/>
          </p:cNvPicPr>
          <p:nvPr/>
        </p:nvPicPr>
        <p:blipFill>
          <a:blip r:embed="rId2"/>
          <a:stretch>
            <a:fillRect/>
          </a:stretch>
        </p:blipFill>
        <p:spPr>
          <a:xfrm>
            <a:off x="5943600" y="1371600"/>
            <a:ext cx="5303520" cy="3200400"/>
          </a:xfrm>
          <a:prstGeom prst="rect">
            <a:avLst/>
          </a:prstGeom>
        </p:spPr>
      </p:pic>
      <p:sp>
        <p:nvSpPr>
          <p:cNvPr id="6" name="Text 2"/>
          <p:cNvSpPr txBox="1"/>
          <p:nvPr/>
        </p:nvSpPr>
        <p:spPr>
          <a:xfrm>
            <a:off x="548640" y="4754880"/>
            <a:ext cx="10972800" cy="1554480"/>
          </a:xfrm>
          <a:prstGeom prst="rect">
            <a:avLst/>
          </a:prstGeom>
          <a:noFill/>
          <a:ln/>
        </p:spPr>
        <p:txBody>
          <a:bodyPr wrap="square" rtlCol="0" anchor="t"/>
          <a:lstStyle/>
          <a:p>
            <a:pPr marL="342900" indent="-342900">
              <a:buSzPct val="100000"/>
              <a:buChar char="•"/>
            </a:pPr>
            <a:r>
              <a:rPr lang="en-US" sz="1300" dirty="0">
                <a:solidFill>
                  <a:srgbClr val="8A97AB"/>
                </a:solidFill>
                <a:latin typeface="Calibri" pitchFamily="34" charset="0"/>
                <a:ea typeface="Calibri" pitchFamily="34" charset="-122"/>
                <a:cs typeface="Calibri" pitchFamily="34" charset="-120"/>
              </a:rPr>
              <a:t>Only 8.07% of applicants default — a naive "approve everyone" model would be 92% "accurate" and useless</a:t>
            </a:r>
            <a:endParaRPr lang="en-US" sz="1300" dirty="0"/>
          </a:p>
          <a:p>
            <a:pPr marL="342900" indent="-342900">
              <a:buSzPct val="100000"/>
              <a:buChar char="•"/>
            </a:pPr>
            <a:r>
              <a:rPr lang="en-US" sz="1300" dirty="0">
                <a:solidFill>
                  <a:srgbClr val="8A97AB"/>
                </a:solidFill>
                <a:latin typeface="Calibri" pitchFamily="34" charset="0"/>
                <a:ea typeface="Calibri" pitchFamily="34" charset="-122"/>
                <a:cs typeface="Calibri" pitchFamily="34" charset="-120"/>
              </a:rPr>
              <a:t>An overdue external bureau loan nearly doubles default risk (15.9% vs 8.0%)</a:t>
            </a:r>
            <a:endParaRPr lang="en-US" sz="1300" dirty="0"/>
          </a:p>
        </p:txBody>
      </p:sp>
      <p:sp>
        <p:nvSpPr>
          <p:cNvPr id="7" name="Text 3"/>
          <p:cNvSpPr txBox="1"/>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8A97A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320040"/>
          </a:xfrm>
          <a:prstGeom prst="rect">
            <a:avLst/>
          </a:prstGeom>
          <a:noFill/>
          <a:ln/>
        </p:spPr>
        <p:txBody>
          <a:bodyPr wrap="square" rtlCol="0" anchor="ctr"/>
          <a:lstStyle/>
          <a:p>
            <a:pPr indent="0" marL="0">
              <a:buNone/>
            </a:pPr>
            <a:r>
              <a:rPr lang="en-US" sz="1200" b="1" dirty="0">
                <a:solidFill>
                  <a:srgbClr val="3FA796"/>
                </a:solidFill>
                <a:latin typeface="Calibri" pitchFamily="34" charset="0"/>
                <a:ea typeface="Calibri" pitchFamily="34" charset="-122"/>
                <a:cs typeface="Calibri" pitchFamily="34" charset="-120"/>
              </a:rPr>
              <a:t>MACHINE LEARNING</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E8EDF3"/>
                </a:solidFill>
                <a:latin typeface="Calibri" pitchFamily="34" charset="0"/>
                <a:ea typeface="Calibri" pitchFamily="34" charset="-122"/>
                <a:cs typeface="Calibri" pitchFamily="34" charset="-120"/>
              </a:rPr>
              <a:t>LightGBM with an evidence-based imbalance strategy</a:t>
            </a:r>
            <a:endParaRPr lang="en-US" sz="3000" dirty="0"/>
          </a:p>
        </p:txBody>
      </p:sp>
      <p:sp>
        <p:nvSpPr>
          <p:cNvPr id="4" name="Shape 2"/>
          <p:cNvSpPr/>
          <p:nvPr/>
        </p:nvSpPr>
        <p:spPr>
          <a:xfrm>
            <a:off x="548640" y="1463040"/>
            <a:ext cx="2606040" cy="1188720"/>
          </a:xfrm>
          <a:prstGeom prst="roundRect">
            <a:avLst>
              <a:gd name="adj" fmla="val 6154"/>
            </a:avLst>
          </a:prstGeom>
          <a:solidFill>
            <a:srgbClr val="131F30"/>
          </a:solidFill>
          <a:ln w="12700">
            <a:solidFill>
              <a:srgbClr val="2A3A50"/>
            </a:solidFill>
            <a:prstDash val="solid"/>
          </a:ln>
        </p:spPr>
      </p:sp>
      <p:sp>
        <p:nvSpPr>
          <p:cNvPr id="5" name="Text 3"/>
          <p:cNvSpPr txBox="1"/>
          <p:nvPr/>
        </p:nvSpPr>
        <p:spPr>
          <a:xfrm>
            <a:off x="713232" y="1572768"/>
            <a:ext cx="2286000" cy="320040"/>
          </a:xfrm>
          <a:prstGeom prst="rect">
            <a:avLst/>
          </a:prstGeom>
          <a:noFill/>
          <a:ln/>
        </p:spPr>
        <p:txBody>
          <a:bodyPr wrap="square" rtlCol="0" anchor="ctr"/>
          <a:lstStyle/>
          <a:p>
            <a:pPr indent="0" marL="0">
              <a:buNone/>
            </a:pPr>
            <a:r>
              <a:rPr lang="en-US" sz="1100" dirty="0">
                <a:solidFill>
                  <a:srgbClr val="8A97AB"/>
                </a:solidFill>
                <a:latin typeface="Calibri" pitchFamily="34" charset="0"/>
                <a:ea typeface="Calibri" pitchFamily="34" charset="-122"/>
                <a:cs typeface="Calibri" pitchFamily="34" charset="-120"/>
              </a:rPr>
              <a:t>ROC-AUC</a:t>
            </a:r>
            <a:endParaRPr lang="en-US" sz="1100" dirty="0"/>
          </a:p>
        </p:txBody>
      </p:sp>
      <p:sp>
        <p:nvSpPr>
          <p:cNvPr id="6" name="Text 4"/>
          <p:cNvSpPr txBox="1"/>
          <p:nvPr/>
        </p:nvSpPr>
        <p:spPr>
          <a:xfrm>
            <a:off x="713232" y="1874520"/>
            <a:ext cx="2286000" cy="640080"/>
          </a:xfrm>
          <a:prstGeom prst="rect">
            <a:avLst/>
          </a:prstGeom>
          <a:noFill/>
          <a:ln/>
        </p:spPr>
        <p:txBody>
          <a:bodyPr wrap="square" rtlCol="0" anchor="ctr"/>
          <a:lstStyle/>
          <a:p>
            <a:pPr indent="0" marL="0">
              <a:buNone/>
            </a:pPr>
            <a:r>
              <a:rPr lang="en-US" sz="2600" b="1" dirty="0">
                <a:solidFill>
                  <a:srgbClr val="E8EDF3"/>
                </a:solidFill>
                <a:latin typeface="Consolas" pitchFamily="34" charset="0"/>
                <a:ea typeface="Consolas" pitchFamily="34" charset="-122"/>
                <a:cs typeface="Consolas" pitchFamily="34" charset="-120"/>
              </a:rPr>
              <a:t>0.780</a:t>
            </a:r>
            <a:endParaRPr lang="en-US" sz="2600" dirty="0"/>
          </a:p>
        </p:txBody>
      </p:sp>
      <p:sp>
        <p:nvSpPr>
          <p:cNvPr id="7" name="Shape 5"/>
          <p:cNvSpPr/>
          <p:nvPr/>
        </p:nvSpPr>
        <p:spPr>
          <a:xfrm>
            <a:off x="3337560" y="1463040"/>
            <a:ext cx="2606040" cy="1188720"/>
          </a:xfrm>
          <a:prstGeom prst="roundRect">
            <a:avLst>
              <a:gd name="adj" fmla="val 6154"/>
            </a:avLst>
          </a:prstGeom>
          <a:solidFill>
            <a:srgbClr val="131F30"/>
          </a:solidFill>
          <a:ln w="12700">
            <a:solidFill>
              <a:srgbClr val="2A3A50"/>
            </a:solidFill>
            <a:prstDash val="solid"/>
          </a:ln>
        </p:spPr>
      </p:sp>
      <p:sp>
        <p:nvSpPr>
          <p:cNvPr id="8" name="Text 6"/>
          <p:cNvSpPr txBox="1"/>
          <p:nvPr/>
        </p:nvSpPr>
        <p:spPr>
          <a:xfrm>
            <a:off x="3502152" y="1572768"/>
            <a:ext cx="2286000" cy="320040"/>
          </a:xfrm>
          <a:prstGeom prst="rect">
            <a:avLst/>
          </a:prstGeom>
          <a:noFill/>
          <a:ln/>
        </p:spPr>
        <p:txBody>
          <a:bodyPr wrap="square" rtlCol="0" anchor="ctr"/>
          <a:lstStyle/>
          <a:p>
            <a:pPr indent="0" marL="0">
              <a:buNone/>
            </a:pPr>
            <a:r>
              <a:rPr lang="en-US" sz="1100" dirty="0">
                <a:solidFill>
                  <a:srgbClr val="8A97AB"/>
                </a:solidFill>
                <a:latin typeface="Calibri" pitchFamily="34" charset="0"/>
                <a:ea typeface="Calibri" pitchFamily="34" charset="-122"/>
                <a:cs typeface="Calibri" pitchFamily="34" charset="-120"/>
              </a:rPr>
              <a:t>PR-AUC</a:t>
            </a:r>
            <a:endParaRPr lang="en-US" sz="1100" dirty="0"/>
          </a:p>
        </p:txBody>
      </p:sp>
      <p:sp>
        <p:nvSpPr>
          <p:cNvPr id="9" name="Text 7"/>
          <p:cNvSpPr txBox="1"/>
          <p:nvPr/>
        </p:nvSpPr>
        <p:spPr>
          <a:xfrm>
            <a:off x="3502152" y="1874520"/>
            <a:ext cx="2286000" cy="640080"/>
          </a:xfrm>
          <a:prstGeom prst="rect">
            <a:avLst/>
          </a:prstGeom>
          <a:noFill/>
          <a:ln/>
        </p:spPr>
        <p:txBody>
          <a:bodyPr wrap="square" rtlCol="0" anchor="ctr"/>
          <a:lstStyle/>
          <a:p>
            <a:pPr indent="0" marL="0">
              <a:buNone/>
            </a:pPr>
            <a:r>
              <a:rPr lang="en-US" sz="2600" b="1" dirty="0">
                <a:solidFill>
                  <a:srgbClr val="E8EDF3"/>
                </a:solidFill>
                <a:latin typeface="Consolas" pitchFamily="34" charset="0"/>
                <a:ea typeface="Consolas" pitchFamily="34" charset="-122"/>
                <a:cs typeface="Consolas" pitchFamily="34" charset="-120"/>
              </a:rPr>
              <a:t>0.277</a:t>
            </a:r>
            <a:endParaRPr lang="en-US" sz="2600" dirty="0"/>
          </a:p>
        </p:txBody>
      </p:sp>
      <p:sp>
        <p:nvSpPr>
          <p:cNvPr id="10" name="Shape 8"/>
          <p:cNvSpPr/>
          <p:nvPr/>
        </p:nvSpPr>
        <p:spPr>
          <a:xfrm>
            <a:off x="6126480" y="1463040"/>
            <a:ext cx="2606040" cy="1188720"/>
          </a:xfrm>
          <a:prstGeom prst="roundRect">
            <a:avLst>
              <a:gd name="adj" fmla="val 6154"/>
            </a:avLst>
          </a:prstGeom>
          <a:solidFill>
            <a:srgbClr val="131F30"/>
          </a:solidFill>
          <a:ln w="12700">
            <a:solidFill>
              <a:srgbClr val="2A3A50"/>
            </a:solidFill>
            <a:prstDash val="solid"/>
          </a:ln>
        </p:spPr>
      </p:sp>
      <p:sp>
        <p:nvSpPr>
          <p:cNvPr id="11" name="Text 9"/>
          <p:cNvSpPr txBox="1"/>
          <p:nvPr/>
        </p:nvSpPr>
        <p:spPr>
          <a:xfrm>
            <a:off x="6291072" y="1572768"/>
            <a:ext cx="2286000" cy="320040"/>
          </a:xfrm>
          <a:prstGeom prst="rect">
            <a:avLst/>
          </a:prstGeom>
          <a:noFill/>
          <a:ln/>
        </p:spPr>
        <p:txBody>
          <a:bodyPr wrap="square" rtlCol="0" anchor="ctr"/>
          <a:lstStyle/>
          <a:p>
            <a:pPr indent="0" marL="0">
              <a:buNone/>
            </a:pPr>
            <a:r>
              <a:rPr lang="en-US" sz="1100" dirty="0">
                <a:solidFill>
                  <a:srgbClr val="8A97AB"/>
                </a:solidFill>
                <a:latin typeface="Calibri" pitchFamily="34" charset="0"/>
                <a:ea typeface="Calibri" pitchFamily="34" charset="-122"/>
                <a:cs typeface="Calibri" pitchFamily="34" charset="-120"/>
              </a:rPr>
              <a:t>Recall @ 0.5</a:t>
            </a:r>
            <a:endParaRPr lang="en-US" sz="1100" dirty="0"/>
          </a:p>
        </p:txBody>
      </p:sp>
      <p:sp>
        <p:nvSpPr>
          <p:cNvPr id="12" name="Text 10"/>
          <p:cNvSpPr txBox="1"/>
          <p:nvPr/>
        </p:nvSpPr>
        <p:spPr>
          <a:xfrm>
            <a:off x="6291072" y="1874520"/>
            <a:ext cx="2286000" cy="640080"/>
          </a:xfrm>
          <a:prstGeom prst="rect">
            <a:avLst/>
          </a:prstGeom>
          <a:noFill/>
          <a:ln/>
        </p:spPr>
        <p:txBody>
          <a:bodyPr wrap="square" rtlCol="0" anchor="ctr"/>
          <a:lstStyle/>
          <a:p>
            <a:pPr indent="0" marL="0">
              <a:buNone/>
            </a:pPr>
            <a:r>
              <a:rPr lang="en-US" sz="2600" b="1" dirty="0">
                <a:solidFill>
                  <a:srgbClr val="E8EDF3"/>
                </a:solidFill>
                <a:latin typeface="Consolas" pitchFamily="34" charset="0"/>
                <a:ea typeface="Consolas" pitchFamily="34" charset="-122"/>
                <a:cs typeface="Consolas" pitchFamily="34" charset="-120"/>
              </a:rPr>
              <a:t>66.7%</a:t>
            </a:r>
            <a:endParaRPr lang="en-US" sz="2600" dirty="0"/>
          </a:p>
        </p:txBody>
      </p:sp>
      <p:sp>
        <p:nvSpPr>
          <p:cNvPr id="13" name="Shape 11"/>
          <p:cNvSpPr/>
          <p:nvPr/>
        </p:nvSpPr>
        <p:spPr>
          <a:xfrm>
            <a:off x="8915400" y="1463040"/>
            <a:ext cx="2606040" cy="1188720"/>
          </a:xfrm>
          <a:prstGeom prst="roundRect">
            <a:avLst>
              <a:gd name="adj" fmla="val 6154"/>
            </a:avLst>
          </a:prstGeom>
          <a:solidFill>
            <a:srgbClr val="131F30"/>
          </a:solidFill>
          <a:ln w="12700">
            <a:solidFill>
              <a:srgbClr val="2A3A50"/>
            </a:solidFill>
            <a:prstDash val="solid"/>
          </a:ln>
        </p:spPr>
      </p:sp>
      <p:sp>
        <p:nvSpPr>
          <p:cNvPr id="14" name="Text 12"/>
          <p:cNvSpPr txBox="1"/>
          <p:nvPr/>
        </p:nvSpPr>
        <p:spPr>
          <a:xfrm>
            <a:off x="9079992" y="1572768"/>
            <a:ext cx="2286000" cy="320040"/>
          </a:xfrm>
          <a:prstGeom prst="rect">
            <a:avLst/>
          </a:prstGeom>
          <a:noFill/>
          <a:ln/>
        </p:spPr>
        <p:txBody>
          <a:bodyPr wrap="square" rtlCol="0" anchor="ctr"/>
          <a:lstStyle/>
          <a:p>
            <a:pPr indent="0" marL="0">
              <a:buNone/>
            </a:pPr>
            <a:r>
              <a:rPr lang="en-US" sz="1100" dirty="0">
                <a:solidFill>
                  <a:srgbClr val="8A97AB"/>
                </a:solidFill>
                <a:latin typeface="Calibri" pitchFamily="34" charset="0"/>
                <a:ea typeface="Calibri" pitchFamily="34" charset="-122"/>
                <a:cs typeface="Calibri" pitchFamily="34" charset="-120"/>
              </a:rPr>
              <a:t>Features</a:t>
            </a:r>
            <a:endParaRPr lang="en-US" sz="1100" dirty="0"/>
          </a:p>
        </p:txBody>
      </p:sp>
      <p:sp>
        <p:nvSpPr>
          <p:cNvPr id="15" name="Text 13"/>
          <p:cNvSpPr txBox="1"/>
          <p:nvPr/>
        </p:nvSpPr>
        <p:spPr>
          <a:xfrm>
            <a:off x="9079992" y="1874520"/>
            <a:ext cx="2286000" cy="640080"/>
          </a:xfrm>
          <a:prstGeom prst="rect">
            <a:avLst/>
          </a:prstGeom>
          <a:noFill/>
          <a:ln/>
        </p:spPr>
        <p:txBody>
          <a:bodyPr wrap="square" rtlCol="0" anchor="ctr"/>
          <a:lstStyle/>
          <a:p>
            <a:pPr indent="0" marL="0">
              <a:buNone/>
            </a:pPr>
            <a:r>
              <a:rPr lang="en-US" sz="2600" b="1" dirty="0">
                <a:solidFill>
                  <a:srgbClr val="E8EDF3"/>
                </a:solidFill>
                <a:latin typeface="Consolas" pitchFamily="34" charset="0"/>
                <a:ea typeface="Consolas" pitchFamily="34" charset="-122"/>
                <a:cs typeface="Consolas" pitchFamily="34" charset="-120"/>
              </a:rPr>
              <a:t>165</a:t>
            </a:r>
            <a:endParaRPr lang="en-US" sz="2600" dirty="0"/>
          </a:p>
        </p:txBody>
      </p:sp>
      <p:sp>
        <p:nvSpPr>
          <p:cNvPr id="16" name="Text 14"/>
          <p:cNvSpPr txBox="1"/>
          <p:nvPr/>
        </p:nvSpPr>
        <p:spPr>
          <a:xfrm>
            <a:off x="548640" y="2880360"/>
            <a:ext cx="10972800" cy="365760"/>
          </a:xfrm>
          <a:prstGeom prst="rect">
            <a:avLst/>
          </a:prstGeom>
          <a:noFill/>
          <a:ln/>
        </p:spPr>
        <p:txBody>
          <a:bodyPr wrap="square" rtlCol="0" anchor="ctr"/>
          <a:lstStyle/>
          <a:p>
            <a:pPr indent="0" marL="0">
              <a:buNone/>
            </a:pPr>
            <a:r>
              <a:rPr lang="en-US" sz="1400" b="1" dirty="0">
                <a:solidFill>
                  <a:srgbClr val="3FA796"/>
                </a:solidFill>
                <a:latin typeface="Calibri" pitchFamily="34" charset="0"/>
                <a:ea typeface="Calibri" pitchFamily="34" charset="-122"/>
                <a:cs typeface="Calibri" pitchFamily="34" charset="-120"/>
              </a:rPr>
              <a:t>Class imbalance (~8% default rate): scale_pos_weight vs SMOTE — tested, not assumed</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11064240" cy="1280160"/>
        </p:xfrm>
        <a:graphic>
          <a:graphicData uri="http://schemas.openxmlformats.org/drawingml/2006/table">
            <a:tbl>
              <a:tblPr/>
              <a:tblGrid>
                <a:gridCol w="4114800"/>
                <a:gridCol w="2743200"/>
                <a:gridCol w="4206240"/>
              </a:tblGrid>
              <a:tr h="426720">
                <a:tc>
                  <a:txBody>
                    <a:bodyPr/>
                    <a:lstStyle/>
                    <a:p>
                      <a:pPr indent="0" marL="0">
                        <a:buNone/>
                      </a:pPr>
                      <a:r>
                        <a:rPr lang="en-US" sz="1250" b="1" dirty="0">
                          <a:solidFill>
                            <a:srgbClr val="E8EDF3"/>
                          </a:solidFill>
                          <a:latin typeface="Calibri" pitchFamily="34" charset="0"/>
                          <a:ea typeface="Calibri" pitchFamily="34" charset="-122"/>
                          <a:cs typeface="Calibri" pitchFamily="34" charset="-120"/>
                        </a:rPr>
                        <a:t>Approach</a:t>
                      </a:r>
                      <a:endParaRPr lang="en-US" sz="1250" dirty="0">
                        <a:latin typeface="Calibri" charset="0"/>
                        <a:ea typeface="Calibri" charset="0"/>
                        <a:cs typeface="Calibri" charset="0"/>
                      </a:endParaRPr>
                    </a:p>
                  </a:txBody>
                  <a:tcPr marL="91440" marR="91440" marT="45720" marB="45720">
                    <a:lnL w="12700" cap="flat" cmpd="sng" algn="ctr">
                      <a:solidFill>
                        <a:srgbClr val="2A3A50"/>
                      </a:solidFill>
                      <a:prstDash val="solid"/>
                      <a:round/>
                      <a:headEnd type="none" w="med" len="med"/>
                      <a:tailEnd type="none" w="med" len="med"/>
                    </a:lnL>
                    <a:lnR w="12700" cap="flat" cmpd="sng" algn="ctr">
                      <a:solidFill>
                        <a:srgbClr val="2A3A50"/>
                      </a:solidFill>
                      <a:prstDash val="solid"/>
                      <a:round/>
                      <a:headEnd type="none" w="med" len="med"/>
                      <a:tailEnd type="none" w="med" len="med"/>
                    </a:lnR>
                    <a:lnT w="12700" cap="flat" cmpd="sng" algn="ctr">
                      <a:solidFill>
                        <a:srgbClr val="2A3A50"/>
                      </a:solidFill>
                      <a:prstDash val="solid"/>
                      <a:round/>
                      <a:headEnd type="none" w="med" len="med"/>
                      <a:tailEnd type="none" w="med" len="med"/>
                    </a:lnT>
                    <a:lnB w="12700" cap="flat" cmpd="sng" algn="ctr">
                      <a:solidFill>
                        <a:srgbClr val="2A3A50"/>
                      </a:solidFill>
                      <a:prstDash val="solid"/>
                      <a:round/>
                      <a:headEnd type="none" w="med" len="med"/>
                      <a:tailEnd type="none" w="med" len="med"/>
                    </a:lnB>
                    <a:solidFill>
                      <a:srgbClr val="131F30"/>
                    </a:solidFill>
                  </a:tcPr>
                </a:tc>
                <a:tc>
                  <a:txBody>
                    <a:bodyPr/>
                    <a:lstStyle/>
                    <a:p>
                      <a:pPr indent="0" marL="0">
                        <a:buNone/>
                      </a:pPr>
                      <a:r>
                        <a:rPr lang="en-US" sz="1250" b="1" dirty="0">
                          <a:solidFill>
                            <a:srgbClr val="E8EDF3"/>
                          </a:solidFill>
                          <a:latin typeface="Calibri" pitchFamily="34" charset="0"/>
                          <a:ea typeface="Calibri" pitchFamily="34" charset="-122"/>
                          <a:cs typeface="Calibri" pitchFamily="34" charset="-120"/>
                        </a:rPr>
                        <a:t>Validation ROC-AUC</a:t>
                      </a:r>
                      <a:endParaRPr lang="en-US" sz="1250" dirty="0">
                        <a:latin typeface="Calibri" charset="0"/>
                        <a:ea typeface="Calibri" charset="0"/>
                        <a:cs typeface="Calibri" charset="0"/>
                      </a:endParaRPr>
                    </a:p>
                  </a:txBody>
                  <a:tcPr marL="91440" marR="91440" marT="45720" marB="45720">
                    <a:lnL w="12700" cap="flat" cmpd="sng" algn="ctr">
                      <a:solidFill>
                        <a:srgbClr val="2A3A50"/>
                      </a:solidFill>
                      <a:prstDash val="solid"/>
                      <a:round/>
                      <a:headEnd type="none" w="med" len="med"/>
                      <a:tailEnd type="none" w="med" len="med"/>
                    </a:lnL>
                    <a:lnR w="12700" cap="flat" cmpd="sng" algn="ctr">
                      <a:solidFill>
                        <a:srgbClr val="2A3A50"/>
                      </a:solidFill>
                      <a:prstDash val="solid"/>
                      <a:round/>
                      <a:headEnd type="none" w="med" len="med"/>
                      <a:tailEnd type="none" w="med" len="med"/>
                    </a:lnR>
                    <a:lnT w="12700" cap="flat" cmpd="sng" algn="ctr">
                      <a:solidFill>
                        <a:srgbClr val="2A3A50"/>
                      </a:solidFill>
                      <a:prstDash val="solid"/>
                      <a:round/>
                      <a:headEnd type="none" w="med" len="med"/>
                      <a:tailEnd type="none" w="med" len="med"/>
                    </a:lnT>
                    <a:lnB w="12700" cap="flat" cmpd="sng" algn="ctr">
                      <a:solidFill>
                        <a:srgbClr val="2A3A50"/>
                      </a:solidFill>
                      <a:prstDash val="solid"/>
                      <a:round/>
                      <a:headEnd type="none" w="med" len="med"/>
                      <a:tailEnd type="none" w="med" len="med"/>
                    </a:lnB>
                    <a:solidFill>
                      <a:srgbClr val="131F30"/>
                    </a:solidFill>
                  </a:tcPr>
                </a:tc>
                <a:tc>
                  <a:txBody>
                    <a:bodyPr/>
                    <a:lstStyle/>
                    <a:p>
                      <a:pPr indent="0" marL="0">
                        <a:buNone/>
                      </a:pPr>
                      <a:r>
                        <a:rPr lang="en-US" sz="1250" b="1" dirty="0">
                          <a:solidFill>
                            <a:srgbClr val="E8EDF3"/>
                          </a:solidFill>
                          <a:latin typeface="Calibri" pitchFamily="34" charset="0"/>
                          <a:ea typeface="Calibri" pitchFamily="34" charset="-122"/>
                          <a:cs typeface="Calibri" pitchFamily="34" charset="-120"/>
                        </a:rPr>
                        <a:t>Notes</a:t>
                      </a:r>
                      <a:endParaRPr lang="en-US" sz="1250" dirty="0">
                        <a:latin typeface="Calibri" charset="0"/>
                        <a:ea typeface="Calibri" charset="0"/>
                        <a:cs typeface="Calibri" charset="0"/>
                      </a:endParaRPr>
                    </a:p>
                  </a:txBody>
                  <a:tcPr marL="91440" marR="91440" marT="45720" marB="45720">
                    <a:lnL w="12700" cap="flat" cmpd="sng" algn="ctr">
                      <a:solidFill>
                        <a:srgbClr val="2A3A50"/>
                      </a:solidFill>
                      <a:prstDash val="solid"/>
                      <a:round/>
                      <a:headEnd type="none" w="med" len="med"/>
                      <a:tailEnd type="none" w="med" len="med"/>
                    </a:lnL>
                    <a:lnR w="12700" cap="flat" cmpd="sng" algn="ctr">
                      <a:solidFill>
                        <a:srgbClr val="2A3A50"/>
                      </a:solidFill>
                      <a:prstDash val="solid"/>
                      <a:round/>
                      <a:headEnd type="none" w="med" len="med"/>
                      <a:tailEnd type="none" w="med" len="med"/>
                    </a:lnR>
                    <a:lnT w="12700" cap="flat" cmpd="sng" algn="ctr">
                      <a:solidFill>
                        <a:srgbClr val="2A3A50"/>
                      </a:solidFill>
                      <a:prstDash val="solid"/>
                      <a:round/>
                      <a:headEnd type="none" w="med" len="med"/>
                      <a:tailEnd type="none" w="med" len="med"/>
                    </a:lnT>
                    <a:lnB w="12700" cap="flat" cmpd="sng" algn="ctr">
                      <a:solidFill>
                        <a:srgbClr val="2A3A50"/>
                      </a:solidFill>
                      <a:prstDash val="solid"/>
                      <a:round/>
                      <a:headEnd type="none" w="med" len="med"/>
                      <a:tailEnd type="none" w="med" len="med"/>
                    </a:lnB>
                    <a:solidFill>
                      <a:srgbClr val="131F30"/>
                    </a:solidFill>
                  </a:tcPr>
                </a:tc>
              </a:tr>
              <a:tr h="426720">
                <a:tc>
                  <a:txBody>
                    <a:bodyPr/>
                    <a:lstStyle/>
                    <a:p>
                      <a:pPr indent="0" marL="0">
                        <a:buNone/>
                      </a:pPr>
                      <a:r>
                        <a:rPr lang="en-US" sz="1250" dirty="0">
                          <a:solidFill>
                            <a:srgbClr val="E8EDF3"/>
                          </a:solidFill>
                          <a:latin typeface="Calibri" pitchFamily="34" charset="0"/>
                          <a:ea typeface="Calibri" pitchFamily="34" charset="-122"/>
                          <a:cs typeface="Calibri" pitchFamily="34" charset="-120"/>
                        </a:rPr>
                        <a:t>scale_pos_weight (production)</a:t>
                      </a:r>
                      <a:endParaRPr lang="en-US" sz="1250" dirty="0">
                        <a:latin typeface="Calibri" charset="0"/>
                        <a:ea typeface="Calibri" charset="0"/>
                        <a:cs typeface="Calibri" charset="0"/>
                      </a:endParaRPr>
                    </a:p>
                  </a:txBody>
                  <a:tcPr marL="91440" marR="91440" marT="45720" marB="45720">
                    <a:lnL w="12700" cap="flat" cmpd="sng" algn="ctr">
                      <a:solidFill>
                        <a:srgbClr val="2A3A50"/>
                      </a:solidFill>
                      <a:prstDash val="solid"/>
                      <a:round/>
                      <a:headEnd type="none" w="med" len="med"/>
                      <a:tailEnd type="none" w="med" len="med"/>
                    </a:lnL>
                    <a:lnR w="12700" cap="flat" cmpd="sng" algn="ctr">
                      <a:solidFill>
                        <a:srgbClr val="2A3A50"/>
                      </a:solidFill>
                      <a:prstDash val="solid"/>
                      <a:round/>
                      <a:headEnd type="none" w="med" len="med"/>
                      <a:tailEnd type="none" w="med" len="med"/>
                    </a:lnR>
                    <a:lnT w="12700" cap="flat" cmpd="sng" algn="ctr">
                      <a:solidFill>
                        <a:srgbClr val="2A3A50"/>
                      </a:solidFill>
                      <a:prstDash val="solid"/>
                      <a:round/>
                      <a:headEnd type="none" w="med" len="med"/>
                      <a:tailEnd type="none" w="med" len="med"/>
                    </a:lnT>
                    <a:lnB w="12700" cap="flat" cmpd="sng" algn="ctr">
                      <a:solidFill>
                        <a:srgbClr val="2A3A50"/>
                      </a:solidFill>
                      <a:prstDash val="solid"/>
                      <a:round/>
                      <a:headEnd type="none" w="med" len="med"/>
                      <a:tailEnd type="none" w="med" len="med"/>
                    </a:lnB>
                    <a:solidFill>
                      <a:srgbClr val="0B1420"/>
                    </a:solidFill>
                  </a:tcPr>
                </a:tc>
                <a:tc>
                  <a:txBody>
                    <a:bodyPr/>
                    <a:lstStyle/>
                    <a:p>
                      <a:pPr indent="0" marL="0">
                        <a:buNone/>
                      </a:pPr>
                      <a:r>
                        <a:rPr lang="en-US" sz="1250" b="1" dirty="0">
                          <a:solidFill>
                            <a:srgbClr val="4C9A6B"/>
                          </a:solidFill>
                          <a:latin typeface="Calibri" pitchFamily="34" charset="0"/>
                          <a:ea typeface="Calibri" pitchFamily="34" charset="-122"/>
                          <a:cs typeface="Calibri" pitchFamily="34" charset="-120"/>
                        </a:rPr>
                        <a:t>0.7804</a:t>
                      </a:r>
                      <a:endParaRPr lang="en-US" sz="1250" dirty="0">
                        <a:latin typeface="Calibri" charset="0"/>
                        <a:ea typeface="Calibri" charset="0"/>
                        <a:cs typeface="Calibri" charset="0"/>
                      </a:endParaRPr>
                    </a:p>
                  </a:txBody>
                  <a:tcPr marL="91440" marR="91440" marT="45720" marB="45720">
                    <a:lnL w="12700" cap="flat" cmpd="sng" algn="ctr">
                      <a:solidFill>
                        <a:srgbClr val="2A3A50"/>
                      </a:solidFill>
                      <a:prstDash val="solid"/>
                      <a:round/>
                      <a:headEnd type="none" w="med" len="med"/>
                      <a:tailEnd type="none" w="med" len="med"/>
                    </a:lnL>
                    <a:lnR w="12700" cap="flat" cmpd="sng" algn="ctr">
                      <a:solidFill>
                        <a:srgbClr val="2A3A50"/>
                      </a:solidFill>
                      <a:prstDash val="solid"/>
                      <a:round/>
                      <a:headEnd type="none" w="med" len="med"/>
                      <a:tailEnd type="none" w="med" len="med"/>
                    </a:lnR>
                    <a:lnT w="12700" cap="flat" cmpd="sng" algn="ctr">
                      <a:solidFill>
                        <a:srgbClr val="2A3A50"/>
                      </a:solidFill>
                      <a:prstDash val="solid"/>
                      <a:round/>
                      <a:headEnd type="none" w="med" len="med"/>
                      <a:tailEnd type="none" w="med" len="med"/>
                    </a:lnT>
                    <a:lnB w="12700" cap="flat" cmpd="sng" algn="ctr">
                      <a:solidFill>
                        <a:srgbClr val="2A3A50"/>
                      </a:solidFill>
                      <a:prstDash val="solid"/>
                      <a:round/>
                      <a:headEnd type="none" w="med" len="med"/>
                      <a:tailEnd type="none" w="med" len="med"/>
                    </a:lnB>
                    <a:solidFill>
                      <a:srgbClr val="0B1420"/>
                    </a:solidFill>
                  </a:tcPr>
                </a:tc>
                <a:tc>
                  <a:txBody>
                    <a:bodyPr/>
                    <a:lstStyle/>
                    <a:p>
                      <a:pPr indent="0" marL="0">
                        <a:buNone/>
                      </a:pPr>
                      <a:r>
                        <a:rPr lang="en-US" sz="1250" dirty="0">
                          <a:solidFill>
                            <a:srgbClr val="8A97AB"/>
                          </a:solidFill>
                          <a:latin typeface="Calibri" pitchFamily="34" charset="0"/>
                          <a:ea typeface="Calibri" pitchFamily="34" charset="-122"/>
                          <a:cs typeface="Calibri" pitchFamily="34" charset="-120"/>
                        </a:rPr>
                        <a:t>Simpler, faster, no synthetic data</a:t>
                      </a:r>
                      <a:endParaRPr lang="en-US" sz="1250" dirty="0">
                        <a:latin typeface="Calibri" charset="0"/>
                        <a:ea typeface="Calibri" charset="0"/>
                        <a:cs typeface="Calibri" charset="0"/>
                      </a:endParaRPr>
                    </a:p>
                  </a:txBody>
                  <a:tcPr marL="91440" marR="91440" marT="45720" marB="45720">
                    <a:lnL w="12700" cap="flat" cmpd="sng" algn="ctr">
                      <a:solidFill>
                        <a:srgbClr val="2A3A50"/>
                      </a:solidFill>
                      <a:prstDash val="solid"/>
                      <a:round/>
                      <a:headEnd type="none" w="med" len="med"/>
                      <a:tailEnd type="none" w="med" len="med"/>
                    </a:lnL>
                    <a:lnR w="12700" cap="flat" cmpd="sng" algn="ctr">
                      <a:solidFill>
                        <a:srgbClr val="2A3A50"/>
                      </a:solidFill>
                      <a:prstDash val="solid"/>
                      <a:round/>
                      <a:headEnd type="none" w="med" len="med"/>
                      <a:tailEnd type="none" w="med" len="med"/>
                    </a:lnR>
                    <a:lnT w="12700" cap="flat" cmpd="sng" algn="ctr">
                      <a:solidFill>
                        <a:srgbClr val="2A3A50"/>
                      </a:solidFill>
                      <a:prstDash val="solid"/>
                      <a:round/>
                      <a:headEnd type="none" w="med" len="med"/>
                      <a:tailEnd type="none" w="med" len="med"/>
                    </a:lnT>
                    <a:lnB w="12700" cap="flat" cmpd="sng" algn="ctr">
                      <a:solidFill>
                        <a:srgbClr val="2A3A50"/>
                      </a:solidFill>
                      <a:prstDash val="solid"/>
                      <a:round/>
                      <a:headEnd type="none" w="med" len="med"/>
                      <a:tailEnd type="none" w="med" len="med"/>
                    </a:lnB>
                    <a:solidFill>
                      <a:srgbClr val="0B1420"/>
                    </a:solidFill>
                  </a:tcPr>
                </a:tc>
              </a:tr>
              <a:tr h="426720">
                <a:tc>
                  <a:txBody>
                    <a:bodyPr/>
                    <a:lstStyle/>
                    <a:p>
                      <a:pPr indent="0" marL="0">
                        <a:buNone/>
                      </a:pPr>
                      <a:r>
                        <a:rPr lang="en-US" sz="1250" dirty="0">
                          <a:solidFill>
                            <a:srgbClr val="E8EDF3"/>
                          </a:solidFill>
                          <a:latin typeface="Calibri" pitchFamily="34" charset="0"/>
                          <a:ea typeface="Calibri" pitchFamily="34" charset="-122"/>
                          <a:cs typeface="Calibri" pitchFamily="34" charset="-120"/>
                        </a:rPr>
                        <a:t>SMOTE (0.5 ratio)</a:t>
                      </a:r>
                      <a:endParaRPr lang="en-US" sz="1250" dirty="0">
                        <a:latin typeface="Calibri" charset="0"/>
                        <a:ea typeface="Calibri" charset="0"/>
                        <a:cs typeface="Calibri" charset="0"/>
                      </a:endParaRPr>
                    </a:p>
                  </a:txBody>
                  <a:tcPr marL="91440" marR="91440" marT="45720" marB="45720">
                    <a:lnL w="12700" cap="flat" cmpd="sng" algn="ctr">
                      <a:solidFill>
                        <a:srgbClr val="2A3A50"/>
                      </a:solidFill>
                      <a:prstDash val="solid"/>
                      <a:round/>
                      <a:headEnd type="none" w="med" len="med"/>
                      <a:tailEnd type="none" w="med" len="med"/>
                    </a:lnL>
                    <a:lnR w="12700" cap="flat" cmpd="sng" algn="ctr">
                      <a:solidFill>
                        <a:srgbClr val="2A3A50"/>
                      </a:solidFill>
                      <a:prstDash val="solid"/>
                      <a:round/>
                      <a:headEnd type="none" w="med" len="med"/>
                      <a:tailEnd type="none" w="med" len="med"/>
                    </a:lnR>
                    <a:lnT w="12700" cap="flat" cmpd="sng" algn="ctr">
                      <a:solidFill>
                        <a:srgbClr val="2A3A50"/>
                      </a:solidFill>
                      <a:prstDash val="solid"/>
                      <a:round/>
                      <a:headEnd type="none" w="med" len="med"/>
                      <a:tailEnd type="none" w="med" len="med"/>
                    </a:lnT>
                    <a:lnB w="12700" cap="flat" cmpd="sng" algn="ctr">
                      <a:solidFill>
                        <a:srgbClr val="2A3A50"/>
                      </a:solidFill>
                      <a:prstDash val="solid"/>
                      <a:round/>
                      <a:headEnd type="none" w="med" len="med"/>
                      <a:tailEnd type="none" w="med" len="med"/>
                    </a:lnB>
                    <a:solidFill>
                      <a:srgbClr val="0B1420"/>
                    </a:solidFill>
                  </a:tcPr>
                </a:tc>
                <a:tc>
                  <a:txBody>
                    <a:bodyPr/>
                    <a:lstStyle/>
                    <a:p>
                      <a:pPr indent="0" marL="0">
                        <a:buNone/>
                      </a:pPr>
                      <a:r>
                        <a:rPr lang="en-US" sz="1250" dirty="0">
                          <a:solidFill>
                            <a:srgbClr val="E8EDF3"/>
                          </a:solidFill>
                          <a:latin typeface="Calibri" pitchFamily="34" charset="0"/>
                          <a:ea typeface="Calibri" pitchFamily="34" charset="-122"/>
                          <a:cs typeface="Calibri" pitchFamily="34" charset="-120"/>
                        </a:rPr>
                        <a:t>0.7792</a:t>
                      </a:r>
                      <a:endParaRPr lang="en-US" sz="1250" dirty="0">
                        <a:latin typeface="Calibri" charset="0"/>
                        <a:ea typeface="Calibri" charset="0"/>
                        <a:cs typeface="Calibri" charset="0"/>
                      </a:endParaRPr>
                    </a:p>
                  </a:txBody>
                  <a:tcPr marL="91440" marR="91440" marT="45720" marB="45720">
                    <a:lnL w="12700" cap="flat" cmpd="sng" algn="ctr">
                      <a:solidFill>
                        <a:srgbClr val="2A3A50"/>
                      </a:solidFill>
                      <a:prstDash val="solid"/>
                      <a:round/>
                      <a:headEnd type="none" w="med" len="med"/>
                      <a:tailEnd type="none" w="med" len="med"/>
                    </a:lnL>
                    <a:lnR w="12700" cap="flat" cmpd="sng" algn="ctr">
                      <a:solidFill>
                        <a:srgbClr val="2A3A50"/>
                      </a:solidFill>
                      <a:prstDash val="solid"/>
                      <a:round/>
                      <a:headEnd type="none" w="med" len="med"/>
                      <a:tailEnd type="none" w="med" len="med"/>
                    </a:lnR>
                    <a:lnT w="12700" cap="flat" cmpd="sng" algn="ctr">
                      <a:solidFill>
                        <a:srgbClr val="2A3A50"/>
                      </a:solidFill>
                      <a:prstDash val="solid"/>
                      <a:round/>
                      <a:headEnd type="none" w="med" len="med"/>
                      <a:tailEnd type="none" w="med" len="med"/>
                    </a:lnT>
                    <a:lnB w="12700" cap="flat" cmpd="sng" algn="ctr">
                      <a:solidFill>
                        <a:srgbClr val="2A3A50"/>
                      </a:solidFill>
                      <a:prstDash val="solid"/>
                      <a:round/>
                      <a:headEnd type="none" w="med" len="med"/>
                      <a:tailEnd type="none" w="med" len="med"/>
                    </a:lnB>
                    <a:solidFill>
                      <a:srgbClr val="0B1420"/>
                    </a:solidFill>
                  </a:tcPr>
                </a:tc>
                <a:tc>
                  <a:txBody>
                    <a:bodyPr/>
                    <a:lstStyle/>
                    <a:p>
                      <a:pPr indent="0" marL="0">
                        <a:buNone/>
                      </a:pPr>
                      <a:r>
                        <a:rPr lang="en-US" sz="1250" dirty="0">
                          <a:solidFill>
                            <a:srgbClr val="8A97AB"/>
                          </a:solidFill>
                          <a:latin typeface="Calibri" pitchFamily="34" charset="0"/>
                          <a:ea typeface="Calibri" pitchFamily="34" charset="-122"/>
                          <a:cs typeface="Calibri" pitchFamily="34" charset="-120"/>
                        </a:rPr>
                        <a:t>Statistically indistinguishable (difference = 0.001)</a:t>
                      </a:r>
                      <a:endParaRPr lang="en-US" sz="1250" dirty="0">
                        <a:latin typeface="Calibri" charset="0"/>
                        <a:ea typeface="Calibri" charset="0"/>
                        <a:cs typeface="Calibri" charset="0"/>
                      </a:endParaRPr>
                    </a:p>
                  </a:txBody>
                  <a:tcPr marL="91440" marR="91440" marT="45720" marB="45720">
                    <a:lnL w="12700" cap="flat" cmpd="sng" algn="ctr">
                      <a:solidFill>
                        <a:srgbClr val="2A3A50"/>
                      </a:solidFill>
                      <a:prstDash val="solid"/>
                      <a:round/>
                      <a:headEnd type="none" w="med" len="med"/>
                      <a:tailEnd type="none" w="med" len="med"/>
                    </a:lnL>
                    <a:lnR w="12700" cap="flat" cmpd="sng" algn="ctr">
                      <a:solidFill>
                        <a:srgbClr val="2A3A50"/>
                      </a:solidFill>
                      <a:prstDash val="solid"/>
                      <a:round/>
                      <a:headEnd type="none" w="med" len="med"/>
                      <a:tailEnd type="none" w="med" len="med"/>
                    </a:lnR>
                    <a:lnT w="12700" cap="flat" cmpd="sng" algn="ctr">
                      <a:solidFill>
                        <a:srgbClr val="2A3A50"/>
                      </a:solidFill>
                      <a:prstDash val="solid"/>
                      <a:round/>
                      <a:headEnd type="none" w="med" len="med"/>
                      <a:tailEnd type="none" w="med" len="med"/>
                    </a:lnT>
                    <a:lnB w="12700" cap="flat" cmpd="sng" algn="ctr">
                      <a:solidFill>
                        <a:srgbClr val="2A3A50"/>
                      </a:solidFill>
                      <a:prstDash val="solid"/>
                      <a:round/>
                      <a:headEnd type="none" w="med" len="med"/>
                      <a:tailEnd type="none" w="med" len="med"/>
                    </a:lnB>
                    <a:solidFill>
                      <a:srgbClr val="0B1420"/>
                    </a:solidFill>
                  </a:tcPr>
                </a:tc>
              </a:tr>
            </a:tbl>
          </a:graphicData>
        </a:graphic>
      </p:graphicFrame>
      <p:sp>
        <p:nvSpPr>
          <p:cNvPr id="18" name="Text 15"/>
          <p:cNvSpPr txBox="1"/>
          <p:nvPr/>
        </p:nvSpPr>
        <p:spPr>
          <a:xfrm>
            <a:off x="548640" y="4846320"/>
            <a:ext cx="10972800" cy="365760"/>
          </a:xfrm>
          <a:prstGeom prst="rect">
            <a:avLst/>
          </a:prstGeom>
          <a:noFill/>
          <a:ln/>
        </p:spPr>
        <p:txBody>
          <a:bodyPr wrap="square" rtlCol="0" anchor="ctr"/>
          <a:lstStyle/>
          <a:p>
            <a:pPr indent="0" marL="0">
              <a:buNone/>
            </a:pPr>
            <a:r>
              <a:rPr lang="en-US" sz="1250" i="1" dirty="0">
                <a:solidFill>
                  <a:srgbClr val="8A97AB"/>
                </a:solidFill>
                <a:latin typeface="Calibri" pitchFamily="34" charset="0"/>
                <a:ea typeface="Calibri" pitchFamily="34" charset="-122"/>
                <a:cs typeface="Calibri" pitchFamily="34" charset="-120"/>
              </a:rPr>
              <a:t>Evaluated on ROC-AUC / PR-AUC, not accuracy — accuracy is misleading under 8% class imbalance.</a:t>
            </a:r>
            <a:endParaRPr lang="en-US" sz="1250" dirty="0"/>
          </a:p>
        </p:txBody>
      </p:sp>
      <p:pic>
        <p:nvPicPr>
          <p:cNvPr id="19" name="Image 0" descr="/home/claude/credit_risk_platform/scripts/../documents/eval_charts/feature_importance.png">    </p:cNvPr>
          <p:cNvPicPr>
            <a:picLocks noChangeAspect="1"/>
          </p:cNvPicPr>
          <p:nvPr/>
        </p:nvPicPr>
        <p:blipFill>
          <a:blip r:embed="rId1"/>
          <a:stretch>
            <a:fillRect/>
          </a:stretch>
        </p:blipFill>
        <p:spPr>
          <a:xfrm>
            <a:off x="2377440" y="5193792"/>
            <a:ext cx="7315200" cy="1481328"/>
          </a:xfrm>
          <a:prstGeom prst="rect">
            <a:avLst/>
          </a:prstGeom>
        </p:spPr>
      </p:pic>
      <p:sp>
        <p:nvSpPr>
          <p:cNvPr id="20" name="Text 16"/>
          <p:cNvSpPr txBox="1"/>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8A97A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320040"/>
          </a:xfrm>
          <a:prstGeom prst="rect">
            <a:avLst/>
          </a:prstGeom>
          <a:noFill/>
          <a:ln/>
        </p:spPr>
        <p:txBody>
          <a:bodyPr wrap="square" rtlCol="0" anchor="ctr"/>
          <a:lstStyle/>
          <a:p>
            <a:pPr indent="0" marL="0">
              <a:buNone/>
            </a:pPr>
            <a:r>
              <a:rPr lang="en-US" sz="1200" b="1" dirty="0">
                <a:solidFill>
                  <a:srgbClr val="3FA796"/>
                </a:solidFill>
                <a:latin typeface="Calibri" pitchFamily="34" charset="0"/>
                <a:ea typeface="Calibri" pitchFamily="34" charset="-122"/>
                <a:cs typeface="Calibri" pitchFamily="34" charset="-120"/>
              </a:rPr>
              <a:t>EXPLAINABLE AI</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E8EDF3"/>
                </a:solidFill>
                <a:latin typeface="Calibri" pitchFamily="34" charset="0"/>
                <a:ea typeface="Calibri" pitchFamily="34" charset="-122"/>
                <a:cs typeface="Calibri" pitchFamily="34" charset="-120"/>
              </a:rPr>
              <a:t>SHAP: auditable reasons behind every prediction</a:t>
            </a:r>
            <a:endParaRPr lang="en-US" sz="3000" dirty="0"/>
          </a:p>
        </p:txBody>
      </p:sp>
      <p:pic>
        <p:nvPicPr>
          <p:cNvPr id="4" name="Image 0" descr="/home/claude/credit_risk_platform/scripts/../documents/screenshots/04_explainability.png">    </p:cNvPr>
          <p:cNvPicPr>
            <a:picLocks noChangeAspect="1"/>
          </p:cNvPicPr>
          <p:nvPr/>
        </p:nvPicPr>
        <p:blipFill>
          <a:blip r:embed="rId1"/>
          <a:stretch>
            <a:fillRect/>
          </a:stretch>
        </p:blipFill>
        <p:spPr>
          <a:xfrm>
            <a:off x="3566160" y="1280160"/>
            <a:ext cx="6035040" cy="5330952"/>
          </a:xfrm>
          <a:prstGeom prst="rect">
            <a:avLst/>
          </a:prstGeom>
        </p:spPr>
      </p:pic>
      <p:sp>
        <p:nvSpPr>
          <p:cNvPr id="5" name="Text 2"/>
          <p:cNvSpPr txBox="1"/>
          <p:nvPr/>
        </p:nvSpPr>
        <p:spPr>
          <a:xfrm>
            <a:off x="457200" y="1737360"/>
            <a:ext cx="2926080" cy="4572000"/>
          </a:xfrm>
          <a:prstGeom prst="rect">
            <a:avLst/>
          </a:prstGeom>
          <a:noFill/>
          <a:ln/>
        </p:spPr>
        <p:txBody>
          <a:bodyPr wrap="square" rtlCol="0" anchor="t"/>
          <a:lstStyle/>
          <a:p>
            <a:pPr marL="342900" indent="-342900">
              <a:spcAft>
                <a:spcPts val="1000"/>
              </a:spcAft>
              <a:buSzPct val="100000"/>
              <a:buChar char="•"/>
            </a:pPr>
            <a:r>
              <a:rPr lang="en-US" sz="1250" dirty="0">
                <a:solidFill>
                  <a:srgbClr val="8A97AB"/>
                </a:solidFill>
                <a:latin typeface="Calibri" pitchFamily="34" charset="0"/>
                <a:ea typeface="Calibri" pitchFamily="34" charset="-122"/>
                <a:cs typeface="Calibri" pitchFamily="34" charset="-120"/>
              </a:rPr>
              <a:t>TreeExplainer — exact SHAP values for gradient-boosted trees, not an approximation</a:t>
            </a:r>
            <a:endParaRPr lang="en-US" sz="1250" dirty="0"/>
          </a:p>
          <a:p>
            <a:pPr marL="342900" indent="-342900">
              <a:spcAft>
                <a:spcPts val="1000"/>
              </a:spcAft>
              <a:buSzPct val="100000"/>
              <a:buChar char="•"/>
            </a:pPr>
            <a:r>
              <a:rPr lang="en-US" sz="1250" dirty="0">
                <a:solidFill>
                  <a:srgbClr val="8A97AB"/>
                </a:solidFill>
                <a:latin typeface="Calibri" pitchFamily="34" charset="0"/>
                <a:ea typeface="Calibri" pitchFamily="34" charset="-122"/>
                <a:cs typeface="Calibri" pitchFamily="34" charset="-120"/>
              </a:rPr>
              <a:t>Interactive diverging bar chart (Plotly) — hover any feature for its exact value and impact</a:t>
            </a:r>
            <a:endParaRPr lang="en-US" sz="1250" dirty="0"/>
          </a:p>
          <a:p>
            <a:pPr marL="342900" indent="-342900">
              <a:spcAft>
                <a:spcPts val="1000"/>
              </a:spcAft>
              <a:buSzPct val="100000"/>
              <a:buChar char="•"/>
            </a:pPr>
            <a:r>
              <a:rPr lang="en-US" sz="1250" dirty="0">
                <a:solidFill>
                  <a:srgbClr val="8A97AB"/>
                </a:solidFill>
                <a:latin typeface="Calibri" pitchFamily="34" charset="0"/>
                <a:ea typeface="Calibri" pitchFamily="34" charset="-122"/>
                <a:cs typeface="Calibri" pitchFamily="34" charset="-120"/>
              </a:rPr>
              <a:t>Per-applicant: top features, direction, and a plain-English summary</a:t>
            </a:r>
            <a:endParaRPr lang="en-US" sz="1250" dirty="0"/>
          </a:p>
          <a:p>
            <a:pPr marL="342900" indent="-342900">
              <a:spcAft>
                <a:spcPts val="1000"/>
              </a:spcAft>
              <a:buSzPct val="100000"/>
              <a:buChar char="•"/>
            </a:pPr>
            <a:r>
              <a:rPr lang="en-US" sz="1250" dirty="0">
                <a:solidFill>
                  <a:srgbClr val="8A97AB"/>
                </a:solidFill>
                <a:latin typeface="Calibri" pitchFamily="34" charset="0"/>
                <a:ea typeface="Calibri" pitchFamily="34" charset="-122"/>
                <a:cs typeface="Calibri" pitchFamily="34" charset="-120"/>
              </a:rPr>
              <a:t>Global: beeswarm plot across a 2,000-applicant sample</a:t>
            </a:r>
            <a:endParaRPr lang="en-US" sz="1250" dirty="0"/>
          </a:p>
        </p:txBody>
      </p:sp>
      <p:sp>
        <p:nvSpPr>
          <p:cNvPr id="6" name="Text 3"/>
          <p:cNvSpPr txBox="1"/>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8A97A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320040"/>
          </a:xfrm>
          <a:prstGeom prst="rect">
            <a:avLst/>
          </a:prstGeom>
          <a:noFill/>
          <a:ln/>
        </p:spPr>
        <p:txBody>
          <a:bodyPr wrap="square" rtlCol="0" anchor="ctr"/>
          <a:lstStyle/>
          <a:p>
            <a:pPr indent="0" marL="0">
              <a:buNone/>
            </a:pPr>
            <a:r>
              <a:rPr lang="en-US" sz="1200" b="1" dirty="0">
                <a:solidFill>
                  <a:srgbClr val="3FA796"/>
                </a:solidFill>
                <a:latin typeface="Calibri" pitchFamily="34" charset="0"/>
                <a:ea typeface="Calibri" pitchFamily="34" charset="-122"/>
                <a:cs typeface="Calibri" pitchFamily="34" charset="-120"/>
              </a:rPr>
              <a:t>BUSINESS RULES</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E8EDF3"/>
                </a:solidFill>
                <a:latin typeface="Calibri" pitchFamily="34" charset="0"/>
                <a:ea typeface="Calibri" pitchFamily="34" charset="-122"/>
                <a:cs typeface="Calibri" pitchFamily="34" charset="-120"/>
              </a:rPr>
              <a:t>Bridging ML output and credit policy</a:t>
            </a:r>
            <a:endParaRPr lang="en-US" sz="3000" dirty="0"/>
          </a:p>
        </p:txBody>
      </p:sp>
      <p:pic>
        <p:nvPicPr>
          <p:cNvPr id="4" name="Image 0" descr="/home/claude/credit_risk_platform/scripts/../documents/screenshots/05_business_rules.png">    </p:cNvPr>
          <p:cNvPicPr>
            <a:picLocks noChangeAspect="1"/>
          </p:cNvPicPr>
          <p:nvPr/>
        </p:nvPicPr>
        <p:blipFill>
          <a:blip r:embed="rId1"/>
          <a:stretch>
            <a:fillRect/>
          </a:stretch>
        </p:blipFill>
        <p:spPr>
          <a:xfrm>
            <a:off x="3566160" y="1280160"/>
            <a:ext cx="6035040" cy="5330952"/>
          </a:xfrm>
          <a:prstGeom prst="rect">
            <a:avLst/>
          </a:prstGeom>
        </p:spPr>
      </p:pic>
      <p:sp>
        <p:nvSpPr>
          <p:cNvPr id="5" name="Text 2"/>
          <p:cNvSpPr txBox="1"/>
          <p:nvPr/>
        </p:nvSpPr>
        <p:spPr>
          <a:xfrm>
            <a:off x="457200" y="1737360"/>
            <a:ext cx="2926080" cy="4572000"/>
          </a:xfrm>
          <a:prstGeom prst="rect">
            <a:avLst/>
          </a:prstGeom>
          <a:noFill/>
          <a:ln/>
        </p:spPr>
        <p:txBody>
          <a:bodyPr wrap="square" rtlCol="0" anchor="t"/>
          <a:lstStyle/>
          <a:p>
            <a:pPr marL="342900" indent="-342900">
              <a:spcAft>
                <a:spcPts val="1000"/>
              </a:spcAft>
              <a:buSzPct val="100000"/>
              <a:buChar char="•"/>
            </a:pPr>
            <a:r>
              <a:rPr lang="en-US" sz="1250" dirty="0">
                <a:solidFill>
                  <a:srgbClr val="8A97AB"/>
                </a:solidFill>
                <a:latin typeface="Calibri" pitchFamily="34" charset="0"/>
                <a:ea typeface="Calibri" pitchFamily="34" charset="-122"/>
                <a:cs typeface="Calibri" pitchFamily="34" charset="-120"/>
              </a:rPr>
              <a:t>Bins top-25 model features and surfaces any bin where default rate is materially above baseline</a:t>
            </a:r>
            <a:endParaRPr lang="en-US" sz="1250" dirty="0"/>
          </a:p>
          <a:p>
            <a:pPr marL="342900" indent="-342900">
              <a:spcAft>
                <a:spcPts val="1000"/>
              </a:spcAft>
              <a:buSzPct val="100000"/>
              <a:buChar char="•"/>
            </a:pPr>
            <a:r>
              <a:rPr lang="en-US" sz="1250" dirty="0">
                <a:solidFill>
                  <a:srgbClr val="8A97AB"/>
                </a:solidFill>
                <a:latin typeface="Calibri" pitchFamily="34" charset="0"/>
                <a:ea typeface="Calibri" pitchFamily="34" charset="-122"/>
                <a:cs typeface="Calibri" pitchFamily="34" charset="-120"/>
              </a:rPr>
              <a:t>Interactive lift chart (Plotly) plus full rule cards below, each with hover-lift animation</a:t>
            </a:r>
            <a:endParaRPr lang="en-US" sz="1250" dirty="0"/>
          </a:p>
          <a:p>
            <a:pPr marL="342900" indent="-342900">
              <a:spcAft>
                <a:spcPts val="1000"/>
              </a:spcAft>
              <a:buSzPct val="100000"/>
              <a:buChar char="•"/>
            </a:pPr>
            <a:r>
              <a:rPr lang="en-US" sz="1250" dirty="0">
                <a:solidFill>
                  <a:srgbClr val="8A97AB"/>
                </a:solidFill>
                <a:latin typeface="Calibri" pitchFamily="34" charset="0"/>
                <a:ea typeface="Calibri" pitchFamily="34" charset="-122"/>
                <a:cs typeface="Calibri" pitchFamily="34" charset="-120"/>
              </a:rPr>
              <a:t>Every rule backed by measured lift + support (n), not just model-internal importance</a:t>
            </a:r>
            <a:endParaRPr lang="en-US" sz="1250" dirty="0"/>
          </a:p>
          <a:p>
            <a:pPr marL="342900" indent="-342900">
              <a:spcAft>
                <a:spcPts val="1000"/>
              </a:spcAft>
              <a:buSzPct val="100000"/>
              <a:buChar char="•"/>
            </a:pPr>
            <a:r>
              <a:rPr lang="en-US" sz="1250" dirty="0">
                <a:solidFill>
                  <a:srgbClr val="8A97AB"/>
                </a:solidFill>
                <a:latin typeface="Calibri" pitchFamily="34" charset="0"/>
                <a:ea typeface="Calibri" pitchFamily="34" charset="-122"/>
                <a:cs typeface="Calibri" pitchFamily="34" charset="-120"/>
              </a:rPr>
              <a:t>Example: Low-skill Laborers default at 2.12x baseline (n=2,093)</a:t>
            </a:r>
            <a:endParaRPr lang="en-US" sz="1250" dirty="0"/>
          </a:p>
        </p:txBody>
      </p:sp>
      <p:sp>
        <p:nvSpPr>
          <p:cNvPr id="6" name="Text 3"/>
          <p:cNvSpPr txBox="1"/>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8A97A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320040"/>
          </a:xfrm>
          <a:prstGeom prst="rect">
            <a:avLst/>
          </a:prstGeom>
          <a:noFill/>
          <a:ln/>
        </p:spPr>
        <p:txBody>
          <a:bodyPr wrap="square" rtlCol="0" anchor="ctr"/>
          <a:lstStyle/>
          <a:p>
            <a:pPr indent="0" marL="0">
              <a:buNone/>
            </a:pPr>
            <a:r>
              <a:rPr lang="en-US" sz="1200" b="1" dirty="0">
                <a:solidFill>
                  <a:srgbClr val="3FA796"/>
                </a:solidFill>
                <a:latin typeface="Calibri" pitchFamily="34" charset="0"/>
                <a:ea typeface="Calibri" pitchFamily="34" charset="-122"/>
                <a:cs typeface="Calibri" pitchFamily="34" charset="-120"/>
              </a:rPr>
              <a:t>TALK-TO-DATA</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E8EDF3"/>
                </a:solidFill>
                <a:latin typeface="Calibri" pitchFamily="34" charset="0"/>
                <a:ea typeface="Calibri" pitchFamily="34" charset="-122"/>
                <a:cs typeface="Calibri" pitchFamily="34" charset="-120"/>
              </a:rPr>
              <a:t>NL-to-SQL with guardrails enforced in code</a:t>
            </a:r>
            <a:endParaRPr lang="en-US" sz="3000" dirty="0"/>
          </a:p>
        </p:txBody>
      </p:sp>
      <p:pic>
        <p:nvPicPr>
          <p:cNvPr id="4" name="Image 0" descr="/home/claude/credit_risk_platform/scripts/../documents/screenshots/06_talk_to_data.png">    </p:cNvPr>
          <p:cNvPicPr>
            <a:picLocks noChangeAspect="1"/>
          </p:cNvPicPr>
          <p:nvPr/>
        </p:nvPicPr>
        <p:blipFill>
          <a:blip r:embed="rId1"/>
          <a:stretch>
            <a:fillRect/>
          </a:stretch>
        </p:blipFill>
        <p:spPr>
          <a:xfrm>
            <a:off x="3566160" y="1280160"/>
            <a:ext cx="6035040" cy="5330952"/>
          </a:xfrm>
          <a:prstGeom prst="rect">
            <a:avLst/>
          </a:prstGeom>
        </p:spPr>
      </p:pic>
      <p:sp>
        <p:nvSpPr>
          <p:cNvPr id="5" name="Text 2"/>
          <p:cNvSpPr txBox="1"/>
          <p:nvPr/>
        </p:nvSpPr>
        <p:spPr>
          <a:xfrm>
            <a:off x="457200" y="1600200"/>
            <a:ext cx="2926080" cy="4846320"/>
          </a:xfrm>
          <a:prstGeom prst="rect">
            <a:avLst/>
          </a:prstGeom>
          <a:noFill/>
          <a:ln/>
        </p:spPr>
        <p:txBody>
          <a:bodyPr wrap="square" rtlCol="0" anchor="t"/>
          <a:lstStyle/>
          <a:p>
            <a:pPr marL="342900" indent="-342900">
              <a:spcAft>
                <a:spcPts val="800"/>
              </a:spcAft>
              <a:buSzPct val="100000"/>
              <a:buChar char="•"/>
            </a:pPr>
            <a:r>
              <a:rPr lang="en-US" sz="1180" dirty="0">
                <a:solidFill>
                  <a:srgbClr val="8A97AB"/>
                </a:solidFill>
                <a:latin typeface="Calibri" pitchFamily="34" charset="0"/>
                <a:ea typeface="Calibri" pitchFamily="34" charset="-122"/>
                <a:cs typeface="Calibri" pitchFamily="34" charset="-120"/>
              </a:rPr>
              <a:t>Two-stage LLM calls: SQL generation (temp 0.1) → grounded answer summarization from real returned rows</a:t>
            </a:r>
            <a:endParaRPr lang="en-US" sz="1180" dirty="0"/>
          </a:p>
          <a:p>
            <a:pPr marL="342900" indent="-342900">
              <a:spcAft>
                <a:spcPts val="800"/>
              </a:spcAft>
              <a:buSzPct val="100000"/>
              <a:buChar char="•"/>
            </a:pPr>
            <a:r>
              <a:rPr lang="en-US" sz="1180" dirty="0">
                <a:solidFill>
                  <a:srgbClr val="8A97AB"/>
                </a:solidFill>
                <a:latin typeface="Calibri" pitchFamily="34" charset="0"/>
                <a:ea typeface="Calibri" pitchFamily="34" charset="-122"/>
                <a:cs typeface="Calibri" pitchFamily="34" charset="-120"/>
              </a:rPr>
              <a:t>SQL validator blocks: DDL/DML keywords, chained statements, hallucinated tables/columns</a:t>
            </a:r>
            <a:endParaRPr lang="en-US" sz="1180" dirty="0"/>
          </a:p>
          <a:p>
            <a:pPr marL="342900" indent="-342900">
              <a:spcAft>
                <a:spcPts val="800"/>
              </a:spcAft>
              <a:buSzPct val="100000"/>
              <a:buChar char="•"/>
            </a:pPr>
            <a:r>
              <a:rPr lang="en-US" sz="1180" dirty="0">
                <a:solidFill>
                  <a:srgbClr val="8A97AB"/>
                </a:solidFill>
                <a:latin typeface="Calibri" pitchFamily="34" charset="0"/>
                <a:ea typeface="Calibri" pitchFamily="34" charset="-122"/>
                <a:cs typeface="Calibri" pitchFamily="34" charset="-120"/>
              </a:rPr>
              <a:t>Auto row-limiting + read-only DB connection as a second defense layer</a:t>
            </a:r>
            <a:endParaRPr lang="en-US" sz="1180" dirty="0"/>
          </a:p>
          <a:p>
            <a:pPr marL="342900" indent="-342900">
              <a:spcAft>
                <a:spcPts val="800"/>
              </a:spcAft>
              <a:buSzPct val="100000"/>
              <a:buChar char="•"/>
            </a:pPr>
            <a:r>
              <a:rPr lang="en-US" sz="1180" dirty="0">
                <a:solidFill>
                  <a:srgbClr val="8A97AB"/>
                </a:solidFill>
                <a:latin typeface="Calibri" pitchFamily="34" charset="0"/>
                <a:ea typeface="Calibri" pitchFamily="34" charset="-122"/>
                <a:cs typeface="Calibri" pitchFamily="34" charset="-120"/>
              </a:rPr>
              <a:t>Tested against real adversarial inputs (DROP TABLE, injection, fake tables) — all correctly blocked</a:t>
            </a:r>
            <a:endParaRPr lang="en-US" sz="1180" dirty="0"/>
          </a:p>
          <a:p>
            <a:pPr marL="342900" indent="-342900">
              <a:spcAft>
                <a:spcPts val="800"/>
              </a:spcAft>
              <a:buSzPct val="100000"/>
              <a:buChar char="•"/>
            </a:pPr>
            <a:r>
              <a:rPr lang="en-US" sz="1180" dirty="0">
                <a:solidFill>
                  <a:srgbClr val="8A97AB"/>
                </a:solidFill>
                <a:latin typeface="Calibri" pitchFamily="34" charset="0"/>
                <a:ea typeface="Calibri" pitchFamily="34" charset="-122"/>
                <a:cs typeface="Calibri" pitchFamily="34" charset="-120"/>
              </a:rPr>
              <a:t>7 verified working query patterns (exceeds the required 5)</a:t>
            </a:r>
            <a:endParaRPr lang="en-US" sz="1180" dirty="0"/>
          </a:p>
        </p:txBody>
      </p:sp>
      <p:sp>
        <p:nvSpPr>
          <p:cNvPr id="6" name="Text 3"/>
          <p:cNvSpPr txBox="1"/>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8A97A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320040"/>
          </a:xfrm>
          <a:prstGeom prst="rect">
            <a:avLst/>
          </a:prstGeom>
          <a:noFill/>
          <a:ln/>
        </p:spPr>
        <p:txBody>
          <a:bodyPr wrap="square" rtlCol="0" anchor="ctr"/>
          <a:lstStyle/>
          <a:p>
            <a:pPr indent="0" marL="0">
              <a:buNone/>
            </a:pPr>
            <a:r>
              <a:rPr lang="en-US" sz="1200" b="1" dirty="0">
                <a:solidFill>
                  <a:srgbClr val="3FA796"/>
                </a:solidFill>
                <a:latin typeface="Calibri" pitchFamily="34" charset="0"/>
                <a:ea typeface="Calibri" pitchFamily="34" charset="-122"/>
                <a:cs typeface="Calibri" pitchFamily="34" charset="-120"/>
              </a:rPr>
              <a:t>USER INTERFACE</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E8EDF3"/>
                </a:solidFill>
                <a:latin typeface="Calibri" pitchFamily="34" charset="0"/>
                <a:ea typeface="Calibri" pitchFamily="34" charset="-122"/>
                <a:cs typeface="Calibri" pitchFamily="34" charset="-120"/>
              </a:rPr>
              <a:t>One platform, five sections, real data throughout</a:t>
            </a:r>
            <a:endParaRPr lang="en-US" sz="3000" dirty="0"/>
          </a:p>
        </p:txBody>
      </p:sp>
      <p:pic>
        <p:nvPicPr>
          <p:cNvPr id="4" name="Image 0" descr="/home/claude/credit_risk_platform/scripts/../documents/screenshots/01_overview.png">    </p:cNvPr>
          <p:cNvPicPr>
            <a:picLocks noChangeAspect="1"/>
          </p:cNvPicPr>
          <p:nvPr/>
        </p:nvPicPr>
        <p:blipFill>
          <a:blip r:embed="rId1"/>
          <a:stretch>
            <a:fillRect/>
          </a:stretch>
        </p:blipFill>
        <p:spPr>
          <a:xfrm>
            <a:off x="457200" y="1371600"/>
            <a:ext cx="5486400" cy="3813048"/>
          </a:xfrm>
          <a:prstGeom prst="rect">
            <a:avLst/>
          </a:prstGeom>
        </p:spPr>
      </p:pic>
      <p:pic>
        <p:nvPicPr>
          <p:cNvPr id="5" name="Image 1" descr="/home/claude/credit_risk_platform/scripts/../documents/screenshots/03b_risk_prediction_result.png">    </p:cNvPr>
          <p:cNvPicPr>
            <a:picLocks noChangeAspect="1"/>
          </p:cNvPicPr>
          <p:nvPr/>
        </p:nvPicPr>
        <p:blipFill>
          <a:blip r:embed="rId2"/>
          <a:stretch>
            <a:fillRect/>
          </a:stretch>
        </p:blipFill>
        <p:spPr>
          <a:xfrm>
            <a:off x="6217920" y="1371600"/>
            <a:ext cx="5486400" cy="3813048"/>
          </a:xfrm>
          <a:prstGeom prst="rect">
            <a:avLst/>
          </a:prstGeom>
        </p:spPr>
      </p:pic>
      <p:sp>
        <p:nvSpPr>
          <p:cNvPr id="6" name="Text 2"/>
          <p:cNvSpPr txBox="1"/>
          <p:nvPr/>
        </p:nvSpPr>
        <p:spPr>
          <a:xfrm>
            <a:off x="457200" y="5257800"/>
            <a:ext cx="11247120" cy="365760"/>
          </a:xfrm>
          <a:prstGeom prst="rect">
            <a:avLst/>
          </a:prstGeom>
          <a:noFill/>
          <a:ln/>
        </p:spPr>
        <p:txBody>
          <a:bodyPr wrap="square" rtlCol="0" anchor="ctr"/>
          <a:lstStyle/>
          <a:p>
            <a:pPr indent="0" marL="0">
              <a:buNone/>
            </a:pPr>
            <a:r>
              <a:rPr lang="en-US" sz="1150" dirty="0">
                <a:solidFill>
                  <a:srgbClr val="8A97AB"/>
                </a:solidFill>
                <a:latin typeface="Calibri" pitchFamily="34" charset="0"/>
                <a:ea typeface="Calibri" pitchFamily="34" charset="-122"/>
                <a:cs typeface="Calibri" pitchFamily="34" charset="-120"/>
              </a:rPr>
              <a:t>Overview (KPIs from real data)                                              Risk Prediction (live scoring + risk band)</a:t>
            </a:r>
            <a:endParaRPr lang="en-US" sz="1150" dirty="0"/>
          </a:p>
        </p:txBody>
      </p:sp>
      <p:sp>
        <p:nvSpPr>
          <p:cNvPr id="7" name="Text 3"/>
          <p:cNvSpPr txBox="1"/>
          <p:nvPr/>
        </p:nvSpPr>
        <p:spPr>
          <a:xfrm>
            <a:off x="457200" y="5943600"/>
            <a:ext cx="10972800" cy="365760"/>
          </a:xfrm>
          <a:prstGeom prst="rect">
            <a:avLst/>
          </a:prstGeom>
          <a:noFill/>
          <a:ln/>
        </p:spPr>
        <p:txBody>
          <a:bodyPr wrap="square" rtlCol="0" anchor="ctr"/>
          <a:lstStyle/>
          <a:p>
            <a:pPr indent="0" marL="0">
              <a:buNone/>
            </a:pPr>
            <a:r>
              <a:rPr lang="en-US" sz="1250" i="1" dirty="0">
                <a:solidFill>
                  <a:srgbClr val="3FA796"/>
                </a:solidFill>
                <a:latin typeface="Calibri" pitchFamily="34" charset="0"/>
                <a:ea typeface="Calibri" pitchFamily="34" charset="-122"/>
                <a:cs typeface="Calibri" pitchFamily="34" charset="-120"/>
              </a:rPr>
              <a:t>Streamlit • dark navy/teal design system • IBM Plex Sans • interactive Plotly charts • hover animations throughout</a:t>
            </a:r>
            <a:endParaRPr lang="en-US" sz="1250" dirty="0"/>
          </a:p>
        </p:txBody>
      </p:sp>
      <p:sp>
        <p:nvSpPr>
          <p:cNvPr id="8" name="Text 4"/>
          <p:cNvSpPr txBox="1"/>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8A97A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320040"/>
          </a:xfrm>
          <a:prstGeom prst="rect">
            <a:avLst/>
          </a:prstGeom>
          <a:noFill/>
          <a:ln/>
        </p:spPr>
        <p:txBody>
          <a:bodyPr wrap="square" rtlCol="0" anchor="ctr"/>
          <a:lstStyle/>
          <a:p>
            <a:pPr indent="0" marL="0">
              <a:buNone/>
            </a:pPr>
            <a:r>
              <a:rPr lang="en-US" sz="1200" b="1" dirty="0">
                <a:solidFill>
                  <a:srgbClr val="3FA796"/>
                </a:solidFill>
                <a:latin typeface="Calibri" pitchFamily="34" charset="0"/>
                <a:ea typeface="Calibri" pitchFamily="34" charset="-122"/>
                <a:cs typeface="Calibri" pitchFamily="34" charset="-120"/>
              </a:rPr>
              <a:t>DEPLOYMENT</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E8EDF3"/>
                </a:solidFill>
                <a:latin typeface="Calibri" pitchFamily="34" charset="0"/>
                <a:ea typeface="Calibri" pitchFamily="34" charset="-122"/>
                <a:cs typeface="Calibri" pitchFamily="34" charset="-120"/>
              </a:rPr>
              <a:t>One command to run the full platform</a:t>
            </a:r>
            <a:endParaRPr lang="en-US" sz="3000" dirty="0"/>
          </a:p>
        </p:txBody>
      </p:sp>
      <p:sp>
        <p:nvSpPr>
          <p:cNvPr id="4" name="Shape 2"/>
          <p:cNvSpPr/>
          <p:nvPr/>
        </p:nvSpPr>
        <p:spPr>
          <a:xfrm>
            <a:off x="548640" y="1645920"/>
            <a:ext cx="548640" cy="548640"/>
          </a:xfrm>
          <a:prstGeom prst="ellipse">
            <a:avLst/>
          </a:prstGeom>
          <a:solidFill>
            <a:srgbClr val="3FA796"/>
          </a:solidFill>
          <a:ln/>
        </p:spPr>
      </p:sp>
      <p:sp>
        <p:nvSpPr>
          <p:cNvPr id="5" name="Text 3"/>
          <p:cNvSpPr txBox="1"/>
          <p:nvPr/>
        </p:nvSpPr>
        <p:spPr>
          <a:xfrm>
            <a:off x="548640" y="1645920"/>
            <a:ext cx="548640" cy="548640"/>
          </a:xfrm>
          <a:prstGeom prst="rect">
            <a:avLst/>
          </a:prstGeom>
          <a:noFill/>
          <a:ln/>
        </p:spPr>
        <p:txBody>
          <a:bodyPr wrap="square" rtlCol="0" anchor="ctr"/>
          <a:lstStyle/>
          <a:p>
            <a:pPr algn="ctr" indent="0" marL="0">
              <a:buNone/>
            </a:pPr>
            <a:r>
              <a:rPr lang="en-US" sz="1800" b="1" dirty="0">
                <a:solidFill>
                  <a:srgbClr val="0B1420"/>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325880" y="1600200"/>
            <a:ext cx="4572000" cy="365760"/>
          </a:xfrm>
          <a:prstGeom prst="rect">
            <a:avLst/>
          </a:prstGeom>
          <a:noFill/>
          <a:ln/>
        </p:spPr>
        <p:txBody>
          <a:bodyPr wrap="square" rtlCol="0" anchor="ctr"/>
          <a:lstStyle/>
          <a:p>
            <a:pPr indent="0" marL="0">
              <a:buNone/>
            </a:pPr>
            <a:r>
              <a:rPr lang="en-US" sz="1500" b="1" dirty="0">
                <a:solidFill>
                  <a:srgbClr val="E8EDF3"/>
                </a:solidFill>
                <a:latin typeface="Calibri" pitchFamily="34" charset="0"/>
                <a:ea typeface="Calibri" pitchFamily="34" charset="-122"/>
                <a:cs typeface="Calibri" pitchFamily="34" charset="-120"/>
              </a:rPr>
              <a:t>Clone &amp; configure</a:t>
            </a:r>
            <a:endParaRPr lang="en-US" sz="1500" dirty="0"/>
          </a:p>
        </p:txBody>
      </p:sp>
      <p:sp>
        <p:nvSpPr>
          <p:cNvPr id="7" name="Text 5"/>
          <p:cNvSpPr txBox="1"/>
          <p:nvPr/>
        </p:nvSpPr>
        <p:spPr>
          <a:xfrm>
            <a:off x="1325880" y="1938528"/>
            <a:ext cx="9875520" cy="548640"/>
          </a:xfrm>
          <a:prstGeom prst="rect">
            <a:avLst/>
          </a:prstGeom>
          <a:noFill/>
          <a:ln/>
        </p:spPr>
        <p:txBody>
          <a:bodyPr wrap="square" rtlCol="0" anchor="ctr"/>
          <a:lstStyle/>
          <a:p>
            <a:pPr indent="0" marL="0">
              <a:buNone/>
            </a:pPr>
            <a:r>
              <a:rPr lang="en-US" sz="1250" dirty="0">
                <a:solidFill>
                  <a:srgbClr val="8A97AB"/>
                </a:solidFill>
                <a:latin typeface="Calibri" pitchFamily="34" charset="0"/>
                <a:ea typeface="Calibri" pitchFamily="34" charset="-122"/>
                <a:cs typeface="Calibri" pitchFamily="34" charset="-120"/>
              </a:rPr>
              <a:t>git clone the repo, copy .env.example → .env, add a free Groq API key</a:t>
            </a:r>
            <a:endParaRPr lang="en-US" sz="1250" dirty="0"/>
          </a:p>
        </p:txBody>
      </p:sp>
      <p:sp>
        <p:nvSpPr>
          <p:cNvPr id="8" name="Shape 6"/>
          <p:cNvSpPr/>
          <p:nvPr/>
        </p:nvSpPr>
        <p:spPr>
          <a:xfrm>
            <a:off x="548640" y="2697480"/>
            <a:ext cx="548640" cy="548640"/>
          </a:xfrm>
          <a:prstGeom prst="ellipse">
            <a:avLst/>
          </a:prstGeom>
          <a:solidFill>
            <a:srgbClr val="3FA796"/>
          </a:solidFill>
          <a:ln/>
        </p:spPr>
      </p:sp>
      <p:sp>
        <p:nvSpPr>
          <p:cNvPr id="9" name="Text 7"/>
          <p:cNvSpPr txBox="1"/>
          <p:nvPr/>
        </p:nvSpPr>
        <p:spPr>
          <a:xfrm>
            <a:off x="548640" y="2697480"/>
            <a:ext cx="548640" cy="548640"/>
          </a:xfrm>
          <a:prstGeom prst="rect">
            <a:avLst/>
          </a:prstGeom>
          <a:noFill/>
          <a:ln/>
        </p:spPr>
        <p:txBody>
          <a:bodyPr wrap="square" rtlCol="0" anchor="ctr"/>
          <a:lstStyle/>
          <a:p>
            <a:pPr algn="ctr" indent="0" marL="0">
              <a:buNone/>
            </a:pPr>
            <a:r>
              <a:rPr lang="en-US" sz="1800" b="1" dirty="0">
                <a:solidFill>
                  <a:srgbClr val="0B1420"/>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325880" y="2651760"/>
            <a:ext cx="4572000" cy="365760"/>
          </a:xfrm>
          <a:prstGeom prst="rect">
            <a:avLst/>
          </a:prstGeom>
          <a:noFill/>
          <a:ln/>
        </p:spPr>
        <p:txBody>
          <a:bodyPr wrap="square" rtlCol="0" anchor="ctr"/>
          <a:lstStyle/>
          <a:p>
            <a:pPr indent="0" marL="0">
              <a:buNone/>
            </a:pPr>
            <a:r>
              <a:rPr lang="en-US" sz="1500" b="1" dirty="0">
                <a:solidFill>
                  <a:srgbClr val="E8EDF3"/>
                </a:solidFill>
                <a:latin typeface="Calibri" pitchFamily="34" charset="0"/>
                <a:ea typeface="Calibri" pitchFamily="34" charset="-122"/>
                <a:cs typeface="Calibri" pitchFamily="34" charset="-120"/>
              </a:rPr>
              <a:t>Prep data &amp; model</a:t>
            </a:r>
            <a:endParaRPr lang="en-US" sz="1500" dirty="0"/>
          </a:p>
        </p:txBody>
      </p:sp>
      <p:sp>
        <p:nvSpPr>
          <p:cNvPr id="11" name="Text 9"/>
          <p:cNvSpPr txBox="1"/>
          <p:nvPr/>
        </p:nvSpPr>
        <p:spPr>
          <a:xfrm>
            <a:off x="1325880" y="2990088"/>
            <a:ext cx="9875520" cy="548640"/>
          </a:xfrm>
          <a:prstGeom prst="rect">
            <a:avLst/>
          </a:prstGeom>
          <a:noFill/>
          <a:ln/>
        </p:spPr>
        <p:txBody>
          <a:bodyPr wrap="square" rtlCol="0" anchor="ctr"/>
          <a:lstStyle/>
          <a:p>
            <a:pPr indent="0" marL="0">
              <a:buNone/>
            </a:pPr>
            <a:r>
              <a:rPr lang="en-US" sz="1250" dirty="0">
                <a:solidFill>
                  <a:srgbClr val="8A97AB"/>
                </a:solidFill>
                <a:latin typeface="Calibri" pitchFamily="34" charset="0"/>
                <a:ea typeface="Calibri" pitchFamily="34" charset="-122"/>
                <a:cs typeface="Calibri" pitchFamily="34" charset="-120"/>
              </a:rPr>
              <a:t>Download 5 Kaggle CSVs → run loader, preprocessor, train, evaluate, rules scripts</a:t>
            </a:r>
            <a:endParaRPr lang="en-US" sz="1250" dirty="0"/>
          </a:p>
        </p:txBody>
      </p:sp>
      <p:sp>
        <p:nvSpPr>
          <p:cNvPr id="12" name="Shape 10"/>
          <p:cNvSpPr/>
          <p:nvPr/>
        </p:nvSpPr>
        <p:spPr>
          <a:xfrm>
            <a:off x="548640" y="3749040"/>
            <a:ext cx="548640" cy="548640"/>
          </a:xfrm>
          <a:prstGeom prst="ellipse">
            <a:avLst/>
          </a:prstGeom>
          <a:solidFill>
            <a:srgbClr val="3FA796"/>
          </a:solidFill>
          <a:ln/>
        </p:spPr>
      </p:sp>
      <p:sp>
        <p:nvSpPr>
          <p:cNvPr id="13" name="Text 11"/>
          <p:cNvSpPr txBox="1"/>
          <p:nvPr/>
        </p:nvSpPr>
        <p:spPr>
          <a:xfrm>
            <a:off x="548640" y="3749040"/>
            <a:ext cx="548640" cy="548640"/>
          </a:xfrm>
          <a:prstGeom prst="rect">
            <a:avLst/>
          </a:prstGeom>
          <a:noFill/>
          <a:ln/>
        </p:spPr>
        <p:txBody>
          <a:bodyPr wrap="square" rtlCol="0" anchor="ctr"/>
          <a:lstStyle/>
          <a:p>
            <a:pPr algn="ctr" indent="0" marL="0">
              <a:buNone/>
            </a:pPr>
            <a:r>
              <a:rPr lang="en-US" sz="1800" b="1" dirty="0">
                <a:solidFill>
                  <a:srgbClr val="0B1420"/>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325880" y="3703320"/>
            <a:ext cx="4572000" cy="365760"/>
          </a:xfrm>
          <a:prstGeom prst="rect">
            <a:avLst/>
          </a:prstGeom>
          <a:noFill/>
          <a:ln/>
        </p:spPr>
        <p:txBody>
          <a:bodyPr wrap="square" rtlCol="0" anchor="ctr"/>
          <a:lstStyle/>
          <a:p>
            <a:pPr indent="0" marL="0">
              <a:buNone/>
            </a:pPr>
            <a:r>
              <a:rPr lang="en-US" sz="1500" b="1" dirty="0">
                <a:solidFill>
                  <a:srgbClr val="E8EDF3"/>
                </a:solidFill>
                <a:latin typeface="Calibri" pitchFamily="34" charset="0"/>
                <a:ea typeface="Calibri" pitchFamily="34" charset="-122"/>
                <a:cs typeface="Calibri" pitchFamily="34" charset="-120"/>
              </a:rPr>
              <a:t>docker-compose up</a:t>
            </a:r>
            <a:endParaRPr lang="en-US" sz="1500" dirty="0"/>
          </a:p>
        </p:txBody>
      </p:sp>
      <p:sp>
        <p:nvSpPr>
          <p:cNvPr id="15" name="Text 13"/>
          <p:cNvSpPr txBox="1"/>
          <p:nvPr/>
        </p:nvSpPr>
        <p:spPr>
          <a:xfrm>
            <a:off x="1325880" y="4041648"/>
            <a:ext cx="9875520" cy="548640"/>
          </a:xfrm>
          <a:prstGeom prst="rect">
            <a:avLst/>
          </a:prstGeom>
          <a:noFill/>
          <a:ln/>
        </p:spPr>
        <p:txBody>
          <a:bodyPr wrap="square" rtlCol="0" anchor="ctr"/>
          <a:lstStyle/>
          <a:p>
            <a:pPr indent="0" marL="0">
              <a:buNone/>
            </a:pPr>
            <a:r>
              <a:rPr lang="en-US" sz="1250" dirty="0">
                <a:solidFill>
                  <a:srgbClr val="8A97AB"/>
                </a:solidFill>
                <a:latin typeface="Calibri" pitchFamily="34" charset="0"/>
                <a:ea typeface="Calibri" pitchFamily="34" charset="-122"/>
                <a:cs typeface="Calibri" pitchFamily="34" charset="-120"/>
              </a:rPr>
              <a:t>Builds the image and launches Streamlit on port 8501 — single command</a:t>
            </a:r>
            <a:endParaRPr lang="en-US" sz="1250" dirty="0"/>
          </a:p>
        </p:txBody>
      </p:sp>
      <p:sp>
        <p:nvSpPr>
          <p:cNvPr id="16" name="Shape 14"/>
          <p:cNvSpPr/>
          <p:nvPr/>
        </p:nvSpPr>
        <p:spPr>
          <a:xfrm>
            <a:off x="548640" y="4937760"/>
            <a:ext cx="11064240" cy="1280160"/>
          </a:xfrm>
          <a:prstGeom prst="roundRect">
            <a:avLst>
              <a:gd name="adj" fmla="val 5714"/>
            </a:avLst>
          </a:prstGeom>
          <a:solidFill>
            <a:srgbClr val="131F30"/>
          </a:solidFill>
          <a:ln w="12700">
            <a:solidFill>
              <a:srgbClr val="3FA796"/>
            </a:solidFill>
            <a:prstDash val="solid"/>
          </a:ln>
        </p:spPr>
      </p:sp>
      <p:sp>
        <p:nvSpPr>
          <p:cNvPr id="17" name="Text 15"/>
          <p:cNvSpPr txBox="1"/>
          <p:nvPr/>
        </p:nvSpPr>
        <p:spPr>
          <a:xfrm>
            <a:off x="868680" y="5120640"/>
            <a:ext cx="10424160" cy="365760"/>
          </a:xfrm>
          <a:prstGeom prst="rect">
            <a:avLst/>
          </a:prstGeom>
          <a:noFill/>
          <a:ln/>
        </p:spPr>
        <p:txBody>
          <a:bodyPr wrap="square" rtlCol="0" anchor="ctr"/>
          <a:lstStyle/>
          <a:p>
            <a:pPr indent="0" marL="0">
              <a:buNone/>
            </a:pPr>
            <a:r>
              <a:rPr lang="en-US" sz="1300" b="1" dirty="0">
                <a:solidFill>
                  <a:srgbClr val="E8EDF3"/>
                </a:solidFill>
                <a:latin typeface="Calibri" pitchFamily="34" charset="0"/>
                <a:ea typeface="Calibri" pitchFamily="34" charset="-122"/>
                <a:cs typeface="Calibri" pitchFamily="34" charset="-120"/>
              </a:rPr>
              <a:t>Dockerfile • docker-compose.yml • .env.example — all in the repo root, per the required structure</a:t>
            </a:r>
            <a:endParaRPr lang="en-US" sz="1300" dirty="0"/>
          </a:p>
        </p:txBody>
      </p:sp>
      <p:sp>
        <p:nvSpPr>
          <p:cNvPr id="18" name="Text 16"/>
          <p:cNvSpPr txBox="1"/>
          <p:nvPr/>
        </p:nvSpPr>
        <p:spPr>
          <a:xfrm>
            <a:off x="868680" y="5486400"/>
            <a:ext cx="10424160" cy="365760"/>
          </a:xfrm>
          <a:prstGeom prst="rect">
            <a:avLst/>
          </a:prstGeom>
          <a:noFill/>
          <a:ln/>
        </p:spPr>
        <p:txBody>
          <a:bodyPr wrap="square" rtlCol="0" anchor="ctr"/>
          <a:lstStyle/>
          <a:p>
            <a:pPr indent="0" marL="0">
              <a:buNone/>
            </a:pPr>
            <a:r>
              <a:rPr lang="en-US" sz="1250" dirty="0">
                <a:solidFill>
                  <a:srgbClr val="3FA796"/>
                </a:solidFill>
                <a:latin typeface="Consolas" pitchFamily="34" charset="0"/>
                <a:ea typeface="Consolas" pitchFamily="34" charset="-122"/>
                <a:cs typeface="Consolas" pitchFamily="34" charset="-120"/>
              </a:rPr>
              <a:t>github.com/malavika-krishna24/credit-risk-platform</a:t>
            </a:r>
            <a:endParaRPr lang="en-US" sz="1250" dirty="0"/>
          </a:p>
        </p:txBody>
      </p:sp>
      <p:sp>
        <p:nvSpPr>
          <p:cNvPr id="19" name="Text 17"/>
          <p:cNvSpPr txBox="1"/>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8A97A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320040"/>
          </a:xfrm>
          <a:prstGeom prst="rect">
            <a:avLst/>
          </a:prstGeom>
          <a:noFill/>
          <a:ln/>
        </p:spPr>
        <p:txBody>
          <a:bodyPr wrap="square" rtlCol="0" anchor="ctr"/>
          <a:lstStyle/>
          <a:p>
            <a:pPr indent="0" marL="0">
              <a:buNone/>
            </a:pPr>
            <a:r>
              <a:rPr lang="en-US" sz="1200" b="1" dirty="0">
                <a:solidFill>
                  <a:srgbClr val="3FA796"/>
                </a:solidFill>
                <a:latin typeface="Calibri" pitchFamily="34" charset="0"/>
                <a:ea typeface="Calibri" pitchFamily="34" charset="-122"/>
                <a:cs typeface="Calibri" pitchFamily="34" charset="-120"/>
              </a:rPr>
              <a:t>BEING HONEST WITH YOU</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E8EDF3"/>
                </a:solidFill>
                <a:latin typeface="Calibri" pitchFamily="34" charset="0"/>
                <a:ea typeface="Calibri" pitchFamily="34" charset="-122"/>
                <a:cs typeface="Calibri" pitchFamily="34" charset="-120"/>
              </a:rPr>
              <a:t>What I'd do next, if I kept going</a:t>
            </a:r>
            <a:endParaRPr lang="en-US" sz="3000" dirty="0"/>
          </a:p>
        </p:txBody>
      </p:sp>
      <p:sp>
        <p:nvSpPr>
          <p:cNvPr id="4" name="Text 2"/>
          <p:cNvSpPr txBox="1"/>
          <p:nvPr/>
        </p:nvSpPr>
        <p:spPr>
          <a:xfrm>
            <a:off x="548640" y="1371600"/>
            <a:ext cx="11064240" cy="411480"/>
          </a:xfrm>
          <a:prstGeom prst="rect">
            <a:avLst/>
          </a:prstGeom>
          <a:noFill/>
          <a:ln/>
        </p:spPr>
        <p:txBody>
          <a:bodyPr wrap="square" rtlCol="0" anchor="ctr"/>
          <a:lstStyle/>
          <a:p>
            <a:pPr indent="0" marL="0">
              <a:buNone/>
            </a:pPr>
            <a:r>
              <a:rPr lang="en-US" sz="1250" i="1" dirty="0">
                <a:solidFill>
                  <a:srgbClr val="8A97AB"/>
                </a:solidFill>
                <a:latin typeface="Calibri" pitchFamily="34" charset="0"/>
                <a:ea typeface="Calibri" pitchFamily="34" charset="-122"/>
                <a:cs typeface="Calibri" pitchFamily="34" charset="-120"/>
              </a:rPr>
              <a:t>I'd rather show you exactly where the edges are than pretend this is finished. Here's what I'd tackle first with more time:</a:t>
            </a:r>
            <a:endParaRPr lang="en-US" sz="1250" dirty="0"/>
          </a:p>
        </p:txBody>
      </p:sp>
      <p:sp>
        <p:nvSpPr>
          <p:cNvPr id="5" name="Shape 3"/>
          <p:cNvSpPr/>
          <p:nvPr/>
        </p:nvSpPr>
        <p:spPr>
          <a:xfrm>
            <a:off x="548640" y="1965960"/>
            <a:ext cx="11064240" cy="987552"/>
          </a:xfrm>
          <a:prstGeom prst="roundRect">
            <a:avLst>
              <a:gd name="adj" fmla="val 7407"/>
            </a:avLst>
          </a:prstGeom>
          <a:solidFill>
            <a:srgbClr val="131F30"/>
          </a:solidFill>
          <a:ln w="12700">
            <a:solidFill>
              <a:srgbClr val="2A3A50"/>
            </a:solidFill>
            <a:prstDash val="solid"/>
          </a:ln>
        </p:spPr>
      </p:sp>
      <p:sp>
        <p:nvSpPr>
          <p:cNvPr id="6" name="Text 4"/>
          <p:cNvSpPr txBox="1"/>
          <p:nvPr/>
        </p:nvSpPr>
        <p:spPr>
          <a:xfrm>
            <a:off x="868680" y="2057400"/>
            <a:ext cx="10424160" cy="365760"/>
          </a:xfrm>
          <a:prstGeom prst="rect">
            <a:avLst/>
          </a:prstGeom>
          <a:noFill/>
          <a:ln/>
        </p:spPr>
        <p:txBody>
          <a:bodyPr wrap="square" rtlCol="0" anchor="ctr"/>
          <a:lstStyle/>
          <a:p>
            <a:pPr indent="0" marL="0">
              <a:buNone/>
            </a:pPr>
            <a:r>
              <a:rPr lang="en-US" sz="1400" b="1" dirty="0">
                <a:solidFill>
                  <a:srgbClr val="E0A458"/>
                </a:solidFill>
                <a:latin typeface="Calibri" pitchFamily="34" charset="0"/>
                <a:ea typeface="Calibri" pitchFamily="34" charset="-122"/>
                <a:cs typeface="Calibri" pitchFamily="34" charset="-120"/>
              </a:rPr>
              <a:t>installments_payments.csv not joined</a:t>
            </a:r>
            <a:endParaRPr lang="en-US" sz="1400" dirty="0"/>
          </a:p>
        </p:txBody>
      </p:sp>
      <p:sp>
        <p:nvSpPr>
          <p:cNvPr id="7" name="Text 5"/>
          <p:cNvSpPr txBox="1"/>
          <p:nvPr/>
        </p:nvSpPr>
        <p:spPr>
          <a:xfrm>
            <a:off x="868680" y="2404872"/>
            <a:ext cx="10424160" cy="457200"/>
          </a:xfrm>
          <a:prstGeom prst="rect">
            <a:avLst/>
          </a:prstGeom>
          <a:noFill/>
          <a:ln/>
        </p:spPr>
        <p:txBody>
          <a:bodyPr wrap="square" rtlCol="0" anchor="ctr"/>
          <a:lstStyle/>
          <a:p>
            <a:pPr indent="0" marL="0">
              <a:buNone/>
            </a:pPr>
            <a:r>
              <a:rPr lang="en-US" sz="1200" dirty="0">
                <a:solidFill>
                  <a:srgbClr val="8A97AB"/>
                </a:solidFill>
                <a:latin typeface="Calibri" pitchFamily="34" charset="0"/>
                <a:ea typeface="Calibri" pitchFamily="34" charset="-122"/>
                <a:cs typeface="Calibri" pitchFamily="34" charset="-120"/>
              </a:rPr>
              <a:t>Repayment-timing signal is already substantially covered by POS_CASH_balance and credit_card_balance's own DPD tracking</a:t>
            </a:r>
            <a:endParaRPr lang="en-US" sz="1200" dirty="0"/>
          </a:p>
        </p:txBody>
      </p:sp>
      <p:sp>
        <p:nvSpPr>
          <p:cNvPr id="8" name="Shape 6"/>
          <p:cNvSpPr/>
          <p:nvPr/>
        </p:nvSpPr>
        <p:spPr>
          <a:xfrm>
            <a:off x="548640" y="3081528"/>
            <a:ext cx="11064240" cy="987552"/>
          </a:xfrm>
          <a:prstGeom prst="roundRect">
            <a:avLst>
              <a:gd name="adj" fmla="val 7407"/>
            </a:avLst>
          </a:prstGeom>
          <a:solidFill>
            <a:srgbClr val="131F30"/>
          </a:solidFill>
          <a:ln w="12700">
            <a:solidFill>
              <a:srgbClr val="2A3A50"/>
            </a:solidFill>
            <a:prstDash val="solid"/>
          </a:ln>
        </p:spPr>
      </p:sp>
      <p:sp>
        <p:nvSpPr>
          <p:cNvPr id="9" name="Text 7"/>
          <p:cNvSpPr txBox="1"/>
          <p:nvPr/>
        </p:nvSpPr>
        <p:spPr>
          <a:xfrm>
            <a:off x="868680" y="3172968"/>
            <a:ext cx="10424160" cy="365760"/>
          </a:xfrm>
          <a:prstGeom prst="rect">
            <a:avLst/>
          </a:prstGeom>
          <a:noFill/>
          <a:ln/>
        </p:spPr>
        <p:txBody>
          <a:bodyPr wrap="square" rtlCol="0" anchor="ctr"/>
          <a:lstStyle/>
          <a:p>
            <a:pPr indent="0" marL="0">
              <a:buNone/>
            </a:pPr>
            <a:r>
              <a:rPr lang="en-US" sz="1400" b="1" dirty="0">
                <a:solidFill>
                  <a:srgbClr val="E0A458"/>
                </a:solidFill>
                <a:latin typeface="Calibri" pitchFamily="34" charset="0"/>
                <a:ea typeface="Calibri" pitchFamily="34" charset="-122"/>
                <a:cs typeface="Calibri" pitchFamily="34" charset="-120"/>
              </a:rPr>
              <a:t>Risk-band thresholds are defaults</a:t>
            </a:r>
            <a:endParaRPr lang="en-US" sz="1400" dirty="0"/>
          </a:p>
        </p:txBody>
      </p:sp>
      <p:sp>
        <p:nvSpPr>
          <p:cNvPr id="10" name="Text 8"/>
          <p:cNvSpPr txBox="1"/>
          <p:nvPr/>
        </p:nvSpPr>
        <p:spPr>
          <a:xfrm>
            <a:off x="868680" y="3520440"/>
            <a:ext cx="10424160" cy="457200"/>
          </a:xfrm>
          <a:prstGeom prst="rect">
            <a:avLst/>
          </a:prstGeom>
          <a:noFill/>
          <a:ln/>
        </p:spPr>
        <p:txBody>
          <a:bodyPr wrap="square" rtlCol="0" anchor="ctr"/>
          <a:lstStyle/>
          <a:p>
            <a:pPr indent="0" marL="0">
              <a:buNone/>
            </a:pPr>
            <a:r>
              <a:rPr lang="en-US" sz="1200" dirty="0">
                <a:solidFill>
                  <a:srgbClr val="8A97AB"/>
                </a:solidFill>
                <a:latin typeface="Calibri" pitchFamily="34" charset="0"/>
                <a:ea typeface="Calibri" pitchFamily="34" charset="-122"/>
                <a:cs typeface="Calibri" pitchFamily="34" charset="-120"/>
              </a:rPr>
              <a:t>Low/Medium/High cutoffs should be tuned against a real bank's approval/loss economics in production</a:t>
            </a:r>
            <a:endParaRPr lang="en-US" sz="1200" dirty="0"/>
          </a:p>
        </p:txBody>
      </p:sp>
      <p:sp>
        <p:nvSpPr>
          <p:cNvPr id="11" name="Shape 9"/>
          <p:cNvSpPr/>
          <p:nvPr/>
        </p:nvSpPr>
        <p:spPr>
          <a:xfrm>
            <a:off x="548640" y="4197096"/>
            <a:ext cx="11064240" cy="987552"/>
          </a:xfrm>
          <a:prstGeom prst="roundRect">
            <a:avLst>
              <a:gd name="adj" fmla="val 7407"/>
            </a:avLst>
          </a:prstGeom>
          <a:solidFill>
            <a:srgbClr val="131F30"/>
          </a:solidFill>
          <a:ln w="12700">
            <a:solidFill>
              <a:srgbClr val="2A3A50"/>
            </a:solidFill>
            <a:prstDash val="solid"/>
          </a:ln>
        </p:spPr>
      </p:sp>
      <p:sp>
        <p:nvSpPr>
          <p:cNvPr id="12" name="Text 10"/>
          <p:cNvSpPr txBox="1"/>
          <p:nvPr/>
        </p:nvSpPr>
        <p:spPr>
          <a:xfrm>
            <a:off x="868680" y="4288536"/>
            <a:ext cx="10424160" cy="365760"/>
          </a:xfrm>
          <a:prstGeom prst="rect">
            <a:avLst/>
          </a:prstGeom>
          <a:noFill/>
          <a:ln/>
        </p:spPr>
        <p:txBody>
          <a:bodyPr wrap="square" rtlCol="0" anchor="ctr"/>
          <a:lstStyle/>
          <a:p>
            <a:pPr indent="0" marL="0">
              <a:buNone/>
            </a:pPr>
            <a:r>
              <a:rPr lang="en-US" sz="1400" b="1" dirty="0">
                <a:solidFill>
                  <a:srgbClr val="E0A458"/>
                </a:solidFill>
                <a:latin typeface="Calibri" pitchFamily="34" charset="0"/>
                <a:ea typeface="Calibri" pitchFamily="34" charset="-122"/>
                <a:cs typeface="Calibri" pitchFamily="34" charset="-120"/>
              </a:rPr>
              <a:t>Prediction form uses ~12 key fields</a:t>
            </a:r>
            <a:endParaRPr lang="en-US" sz="1400" dirty="0"/>
          </a:p>
        </p:txBody>
      </p:sp>
      <p:sp>
        <p:nvSpPr>
          <p:cNvPr id="13" name="Text 11"/>
          <p:cNvSpPr txBox="1"/>
          <p:nvPr/>
        </p:nvSpPr>
        <p:spPr>
          <a:xfrm>
            <a:off x="868680" y="4636008"/>
            <a:ext cx="10424160" cy="457200"/>
          </a:xfrm>
          <a:prstGeom prst="rect">
            <a:avLst/>
          </a:prstGeom>
          <a:noFill/>
          <a:ln/>
        </p:spPr>
        <p:txBody>
          <a:bodyPr wrap="square" rtlCol="0" anchor="ctr"/>
          <a:lstStyle/>
          <a:p>
            <a:pPr indent="0" marL="0">
              <a:buNone/>
            </a:pPr>
            <a:r>
              <a:rPr lang="en-US" sz="1200" dirty="0">
                <a:solidFill>
                  <a:srgbClr val="8A97AB"/>
                </a:solidFill>
                <a:latin typeface="Calibri" pitchFamily="34" charset="0"/>
                <a:ea typeface="Calibri" pitchFamily="34" charset="-122"/>
                <a:cs typeface="Calibri" pitchFamily="34" charset="-120"/>
              </a:rPr>
              <a:t>Remaining ~153 features filled from population medians/modes — a deliberate UX tradeoff for a demo interface</a:t>
            </a:r>
            <a:endParaRPr lang="en-US" sz="1200" dirty="0"/>
          </a:p>
        </p:txBody>
      </p:sp>
      <p:sp>
        <p:nvSpPr>
          <p:cNvPr id="14" name="Shape 12"/>
          <p:cNvSpPr/>
          <p:nvPr/>
        </p:nvSpPr>
        <p:spPr>
          <a:xfrm>
            <a:off x="548640" y="5312664"/>
            <a:ext cx="11064240" cy="987552"/>
          </a:xfrm>
          <a:prstGeom prst="roundRect">
            <a:avLst>
              <a:gd name="adj" fmla="val 7407"/>
            </a:avLst>
          </a:prstGeom>
          <a:solidFill>
            <a:srgbClr val="131F30"/>
          </a:solidFill>
          <a:ln w="12700">
            <a:solidFill>
              <a:srgbClr val="2A3A50"/>
            </a:solidFill>
            <a:prstDash val="solid"/>
          </a:ln>
        </p:spPr>
      </p:sp>
      <p:sp>
        <p:nvSpPr>
          <p:cNvPr id="15" name="Text 13"/>
          <p:cNvSpPr txBox="1"/>
          <p:nvPr/>
        </p:nvSpPr>
        <p:spPr>
          <a:xfrm>
            <a:off x="868680" y="5404104"/>
            <a:ext cx="10424160" cy="365760"/>
          </a:xfrm>
          <a:prstGeom prst="rect">
            <a:avLst/>
          </a:prstGeom>
          <a:noFill/>
          <a:ln/>
        </p:spPr>
        <p:txBody>
          <a:bodyPr wrap="square" rtlCol="0" anchor="ctr"/>
          <a:lstStyle/>
          <a:p>
            <a:pPr indent="0" marL="0">
              <a:buNone/>
            </a:pPr>
            <a:r>
              <a:rPr lang="en-US" sz="1400" b="1" dirty="0">
                <a:solidFill>
                  <a:srgbClr val="E0A458"/>
                </a:solidFill>
                <a:latin typeface="Calibri" pitchFamily="34" charset="0"/>
                <a:ea typeface="Calibri" pitchFamily="34" charset="-122"/>
                <a:cs typeface="Calibri" pitchFamily="34" charset="-120"/>
              </a:rPr>
              <a:t>No monitoring/retraining pipeline</a:t>
            </a:r>
            <a:endParaRPr lang="en-US" sz="1400" dirty="0"/>
          </a:p>
        </p:txBody>
      </p:sp>
      <p:sp>
        <p:nvSpPr>
          <p:cNvPr id="16" name="Text 14"/>
          <p:cNvSpPr txBox="1"/>
          <p:nvPr/>
        </p:nvSpPr>
        <p:spPr>
          <a:xfrm>
            <a:off x="868680" y="5751576"/>
            <a:ext cx="10424160" cy="457200"/>
          </a:xfrm>
          <a:prstGeom prst="rect">
            <a:avLst/>
          </a:prstGeom>
          <a:noFill/>
          <a:ln/>
        </p:spPr>
        <p:txBody>
          <a:bodyPr wrap="square" rtlCol="0" anchor="ctr"/>
          <a:lstStyle/>
          <a:p>
            <a:pPr indent="0" marL="0">
              <a:buNone/>
            </a:pPr>
            <a:r>
              <a:rPr lang="en-US" sz="1200" dirty="0">
                <a:solidFill>
                  <a:srgbClr val="8A97AB"/>
                </a:solidFill>
                <a:latin typeface="Calibri" pitchFamily="34" charset="0"/>
                <a:ea typeface="Calibri" pitchFamily="34" charset="-122"/>
                <a:cs typeface="Calibri" pitchFamily="34" charset="-120"/>
              </a:rPr>
              <a:t>A production deployment needs drift detection and scheduled retraining — out of scope here</a:t>
            </a:r>
            <a:endParaRPr lang="en-US" sz="1200" dirty="0"/>
          </a:p>
        </p:txBody>
      </p:sp>
      <p:sp>
        <p:nvSpPr>
          <p:cNvPr id="17" name="Text 15"/>
          <p:cNvSpPr txBox="1"/>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8A97A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420"/>
        </a:solidFill>
      </p:bgPr>
    </p:bg>
    <p:spTree>
      <p:nvGrpSpPr>
        <p:cNvPr id="1" name=""/>
        <p:cNvGrpSpPr/>
        <p:nvPr/>
      </p:nvGrpSpPr>
      <p:grpSpPr>
        <a:xfrm>
          <a:off x="0" y="0"/>
          <a:ext cx="0" cy="0"/>
          <a:chOff x="0" y="0"/>
          <a:chExt cx="0" cy="0"/>
        </a:xfrm>
      </p:grpSpPr>
      <p:sp>
        <p:nvSpPr>
          <p:cNvPr id="2" name="Text 0"/>
          <p:cNvSpPr txBox="1"/>
          <p:nvPr/>
        </p:nvSpPr>
        <p:spPr>
          <a:xfrm>
            <a:off x="822960" y="2103120"/>
            <a:ext cx="10058400" cy="914400"/>
          </a:xfrm>
          <a:prstGeom prst="rect">
            <a:avLst/>
          </a:prstGeom>
          <a:noFill/>
          <a:ln/>
        </p:spPr>
        <p:txBody>
          <a:bodyPr wrap="square" rtlCol="0" anchor="ctr"/>
          <a:lstStyle/>
          <a:p>
            <a:pPr indent="0" marL="0">
              <a:buNone/>
            </a:pPr>
            <a:r>
              <a:rPr lang="en-US" sz="3600" b="1" dirty="0">
                <a:solidFill>
                  <a:srgbClr val="E8EDF3"/>
                </a:solidFill>
                <a:latin typeface="Calibri" pitchFamily="34" charset="0"/>
                <a:ea typeface="Calibri" pitchFamily="34" charset="-122"/>
                <a:cs typeface="Calibri" pitchFamily="34" charset="-120"/>
              </a:rPr>
              <a:t>Thank you for reading this far</a:t>
            </a:r>
            <a:endParaRPr lang="en-US" sz="3600" dirty="0"/>
          </a:p>
        </p:txBody>
      </p:sp>
      <p:sp>
        <p:nvSpPr>
          <p:cNvPr id="3" name="Text 1"/>
          <p:cNvSpPr txBox="1"/>
          <p:nvPr/>
        </p:nvSpPr>
        <p:spPr>
          <a:xfrm>
            <a:off x="822960" y="3063240"/>
            <a:ext cx="9875520" cy="1005840"/>
          </a:xfrm>
          <a:prstGeom prst="rect">
            <a:avLst/>
          </a:prstGeom>
          <a:noFill/>
          <a:ln/>
        </p:spPr>
        <p:txBody>
          <a:bodyPr wrap="square" rtlCol="0" anchor="ctr"/>
          <a:lstStyle/>
          <a:p>
            <a:pPr indent="0" marL="0">
              <a:lnSpc>
                <a:spcPct val="130000"/>
              </a:lnSpc>
              <a:buNone/>
            </a:pPr>
            <a:r>
              <a:rPr lang="en-US" sz="1450" dirty="0">
                <a:solidFill>
                  <a:srgbClr val="8A97AB"/>
                </a:solidFill>
                <a:latin typeface="Calibri" pitchFamily="34" charset="0"/>
                <a:ea typeface="Calibri" pitchFamily="34" charset="-122"/>
                <a:cs typeface="Calibri" pitchFamily="34" charset="-120"/>
              </a:rPr>
              <a:t>I genuinely enjoyed building this — the multi-table joins, the SQL guardrails, the SHAP explanations that turned out to match intuition. If you dig into the repo and something looks off or you'd want it done differently, I'd love to talk through the reasoning.</a:t>
            </a:r>
            <a:endParaRPr lang="en-US" sz="1450" dirty="0"/>
          </a:p>
        </p:txBody>
      </p:sp>
      <p:sp>
        <p:nvSpPr>
          <p:cNvPr id="4" name="Shape 2"/>
          <p:cNvSpPr/>
          <p:nvPr/>
        </p:nvSpPr>
        <p:spPr>
          <a:xfrm>
            <a:off x="822960" y="4297680"/>
            <a:ext cx="502920" cy="54864"/>
          </a:xfrm>
          <a:prstGeom prst="rect">
            <a:avLst/>
          </a:prstGeom>
          <a:solidFill>
            <a:srgbClr val="3FA796"/>
          </a:solidFill>
          <a:ln/>
        </p:spPr>
      </p:sp>
      <p:sp>
        <p:nvSpPr>
          <p:cNvPr id="5" name="Text 3"/>
          <p:cNvSpPr txBox="1"/>
          <p:nvPr/>
        </p:nvSpPr>
        <p:spPr>
          <a:xfrm>
            <a:off x="822960" y="5806440"/>
            <a:ext cx="7315200" cy="365760"/>
          </a:xfrm>
          <a:prstGeom prst="rect">
            <a:avLst/>
          </a:prstGeom>
          <a:noFill/>
          <a:ln/>
        </p:spPr>
        <p:txBody>
          <a:bodyPr wrap="square" rtlCol="0" anchor="ctr"/>
          <a:lstStyle/>
          <a:p>
            <a:pPr indent="0" marL="0">
              <a:buNone/>
            </a:pPr>
            <a:r>
              <a:rPr lang="en-US" sz="1300" b="1" dirty="0">
                <a:solidFill>
                  <a:srgbClr val="E8EDF3"/>
                </a:solidFill>
                <a:latin typeface="Calibri" pitchFamily="34" charset="0"/>
                <a:ea typeface="Calibri" pitchFamily="34" charset="-122"/>
                <a:cs typeface="Calibri" pitchFamily="34" charset="-120"/>
              </a:rPr>
              <a:t>Malavika Krishna</a:t>
            </a:r>
            <a:endParaRPr lang="en-US" sz="1300" dirty="0"/>
          </a:p>
        </p:txBody>
      </p:sp>
      <p:sp>
        <p:nvSpPr>
          <p:cNvPr id="6" name="Text 4"/>
          <p:cNvSpPr txBox="1"/>
          <p:nvPr/>
        </p:nvSpPr>
        <p:spPr>
          <a:xfrm>
            <a:off x="822960" y="6126480"/>
            <a:ext cx="7315200" cy="365760"/>
          </a:xfrm>
          <a:prstGeom prst="rect">
            <a:avLst/>
          </a:prstGeom>
          <a:noFill/>
          <a:ln/>
        </p:spPr>
        <p:txBody>
          <a:bodyPr wrap="square" rtlCol="0" anchor="ctr"/>
          <a:lstStyle/>
          <a:p>
            <a:pPr indent="0" marL="0">
              <a:buNone/>
            </a:pPr>
            <a:r>
              <a:rPr lang="en-US" sz="1200" dirty="0">
                <a:solidFill>
                  <a:srgbClr val="3FA796"/>
                </a:solidFill>
                <a:latin typeface="Consolas" pitchFamily="34" charset="0"/>
                <a:ea typeface="Consolas" pitchFamily="34" charset="-122"/>
                <a:cs typeface="Consolas" pitchFamily="34" charset="-120"/>
              </a:rPr>
              <a:t>github.com/malavika-krishna24/credit-risk-platform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2026-09-06T17:43:01Z</dcterms:created>
  <dcterms:modified xsi:type="dcterms:W3CDTF">2026-09-06T17:43:01Z</dcterms:modified>
</cp:coreProperties>
</file>