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2286000"/>
            <a:ext cx="105156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E8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Credit Risk Intelligence Platform</a:t>
            </a:r>
            <a:endParaRPr lang="en-US" sz="42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3337560"/>
            <a:ext cx="9601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A97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AI-powered platform for loan default prediction, explainability, and natural-language data access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822960" y="3977640"/>
            <a:ext cx="502920" cy="54864"/>
          </a:xfrm>
          <a:prstGeom prst="rect">
            <a:avLst/>
          </a:prstGeom>
          <a:solidFill>
            <a:srgbClr val="3FA796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2960" y="61264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97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NeoStats AI Engineer Internship — Candidate Assignment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64592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A7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8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a bank-ready credit risk platform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11064240" cy="960120"/>
          </a:xfrm>
          <a:prstGeom prst="roundRect">
            <a:avLst>
              <a:gd name="adj" fmla="val 7619"/>
            </a:avLst>
          </a:prstGeom>
          <a:solidFill>
            <a:srgbClr val="131F30"/>
          </a:solidFill>
          <a:ln w="12700">
            <a:solidFill>
              <a:srgbClr val="2A3A5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1709928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A7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Multi-table data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057400"/>
            <a:ext cx="104241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A97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Joined application, bureau, prior-loan, and monthly repayment history — not just a single table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48640" y="2715768"/>
            <a:ext cx="11064240" cy="960120"/>
          </a:xfrm>
          <a:prstGeom prst="roundRect">
            <a:avLst>
              <a:gd name="adj" fmla="val 7619"/>
            </a:avLst>
          </a:prstGeom>
          <a:solidFill>
            <a:srgbClr val="131F30"/>
          </a:solidFill>
          <a:ln w="12700">
            <a:solidFill>
              <a:srgbClr val="2A3A5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68680" y="2825496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A7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Explainable by design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868680" y="3172968"/>
            <a:ext cx="104241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A97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prediction is backed by SHAP reasoning and auditable business rules, not a black box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48640" y="3831336"/>
            <a:ext cx="11064240" cy="960120"/>
          </a:xfrm>
          <a:prstGeom prst="roundRect">
            <a:avLst>
              <a:gd name="adj" fmla="val 7619"/>
            </a:avLst>
          </a:prstGeom>
          <a:solidFill>
            <a:srgbClr val="131F30"/>
          </a:solidFill>
          <a:ln w="12700">
            <a:solidFill>
              <a:srgbClr val="2A3A5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68680" y="3941064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A7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Talk to the data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868680" y="4288536"/>
            <a:ext cx="104241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A97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guardrailed NL-to-SQL chatbot for non-technical stakeholders to explore the data directly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48640" y="4946904"/>
            <a:ext cx="11064240" cy="960120"/>
          </a:xfrm>
          <a:prstGeom prst="roundRect">
            <a:avLst>
              <a:gd name="adj" fmla="val 7619"/>
            </a:avLst>
          </a:prstGeom>
          <a:solidFill>
            <a:srgbClr val="131F30"/>
          </a:solidFill>
          <a:ln w="12700">
            <a:solidFill>
              <a:srgbClr val="2A3A5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68680" y="5056632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A7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Ship it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868680" y="5404104"/>
            <a:ext cx="104241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A97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Fully Dockerized, single-command deployment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11612880" y="6446520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7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64592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A7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8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the pieces fit together</a:t>
            </a:r>
            <a:endParaRPr lang="en-US" sz="3000" dirty="0"/>
          </a:p>
        </p:txBody>
      </p:sp>
      <p:pic>
        <p:nvPicPr>
          <p:cNvPr id="4" name="Image 0" descr="/home/claude/credit_risk_platform/scripts/../documents/architecture_diagra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71600"/>
            <a:ext cx="11247120" cy="516636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1612880" y="6446520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7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64592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A7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8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Multi-table feature engineering, not just one CSV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1732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8A97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submissions on this dataset use application_train.csv alone. This platform joins three additional tables — aggregated in SQL for speed on 10M+ row tables — to capture signal a single-table model would miss.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48640" y="2331720"/>
            <a:ext cx="2697480" cy="3291840"/>
          </a:xfrm>
          <a:prstGeom prst="roundRect">
            <a:avLst>
              <a:gd name="adj" fmla="val 2712"/>
            </a:avLst>
          </a:prstGeom>
          <a:solidFill>
            <a:srgbClr val="131F30"/>
          </a:solidFill>
          <a:ln w="12700">
            <a:solidFill>
              <a:srgbClr val="3FA79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2560320"/>
            <a:ext cx="2331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applications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3063240"/>
            <a:ext cx="2331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FA7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307,511 rows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3520440"/>
            <a:ext cx="233172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97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applicant demographics &amp; loan terms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3410712" y="2331720"/>
            <a:ext cx="2697480" cy="3291840"/>
          </a:xfrm>
          <a:prstGeom prst="roundRect">
            <a:avLst>
              <a:gd name="adj" fmla="val 2712"/>
            </a:avLst>
          </a:prstGeom>
          <a:solidFill>
            <a:srgbClr val="131F30"/>
          </a:solidFill>
          <a:ln w="12700">
            <a:solidFill>
              <a:srgbClr val="3FA79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593592" y="2560320"/>
            <a:ext cx="2331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bureau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3593592" y="3063240"/>
            <a:ext cx="2331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FA7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1.7M rows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3593592" y="3520440"/>
            <a:ext cx="233172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97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External credit bureau history — active/overdue loans, debt ratios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272784" y="2331720"/>
            <a:ext cx="2697480" cy="3291840"/>
          </a:xfrm>
          <a:prstGeom prst="roundRect">
            <a:avLst>
              <a:gd name="adj" fmla="val 2712"/>
            </a:avLst>
          </a:prstGeom>
          <a:solidFill>
            <a:srgbClr val="131F30"/>
          </a:solidFill>
          <a:ln w="12700">
            <a:solidFill>
              <a:srgbClr val="3FA79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455664" y="2560320"/>
            <a:ext cx="2331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previous_applications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6455664" y="3063240"/>
            <a:ext cx="2331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FA7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1.7M rows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6455664" y="3520440"/>
            <a:ext cx="233172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97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applicant's prior loans with the same lender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9134856" y="2331720"/>
            <a:ext cx="2697480" cy="3291840"/>
          </a:xfrm>
          <a:prstGeom prst="roundRect">
            <a:avLst>
              <a:gd name="adj" fmla="val 2712"/>
            </a:avLst>
          </a:prstGeom>
          <a:solidFill>
            <a:srgbClr val="131F30"/>
          </a:solidFill>
          <a:ln w="12700">
            <a:solidFill>
              <a:srgbClr val="3FA79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317736" y="2560320"/>
            <a:ext cx="2331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pos_cash_balance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9317736" y="3063240"/>
            <a:ext cx="2331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FA7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10M rows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9317736" y="3520440"/>
            <a:ext cx="233172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97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days-past-due (DPD) — direct repayment behavior signal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548640" y="585216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3FA7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Result: 152 features across 4 tables, feeding a single unified model.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11612880" y="6446520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7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64592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A7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EXPLORATORY DATA ANALYSIS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8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data says before any model is built</a:t>
            </a:r>
            <a:endParaRPr lang="en-US" sz="3000" dirty="0"/>
          </a:p>
        </p:txBody>
      </p:sp>
      <p:pic>
        <p:nvPicPr>
          <p:cNvPr id="4" name="Image 0" descr="/home/claude/credit_risk_platform/scripts/../notebooks/eda_charts/01_target_distribu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71600"/>
            <a:ext cx="5303520" cy="3200400"/>
          </a:xfrm>
          <a:prstGeom prst="rect">
            <a:avLst/>
          </a:prstGeom>
        </p:spPr>
      </p:pic>
      <p:pic>
        <p:nvPicPr>
          <p:cNvPr id="5" name="Image 1" descr="/home/claude/credit_risk_platform/scripts/../notebooks/eda_charts/04_default_by_bureau_overdu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371600"/>
            <a:ext cx="5303520" cy="320040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548640" y="4754880"/>
            <a:ext cx="1097280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8A97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8.07% of applicants default — a naive "approve everyone" model would be 92% "accurate" and useless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8A97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overdue external bureau loan nearly doubles default risk (15.9% vs 8.0%)</a:t>
            </a:r>
            <a:endParaRPr lang="en-US" sz="1300" dirty="0"/>
          </a:p>
        </p:txBody>
      </p:sp>
      <p:sp>
        <p:nvSpPr>
          <p:cNvPr id="7" name="Text 3"/>
          <p:cNvSpPr txBox="1"/>
          <p:nvPr/>
        </p:nvSpPr>
        <p:spPr>
          <a:xfrm>
            <a:off x="11612880" y="6446520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7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64592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A7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MACHINE LEARNING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8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LightGBM with an evidence-based imbalance strategy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2606040" cy="1188720"/>
          </a:xfrm>
          <a:prstGeom prst="roundRect">
            <a:avLst>
              <a:gd name="adj" fmla="val 6154"/>
            </a:avLst>
          </a:prstGeom>
          <a:solidFill>
            <a:srgbClr val="131F30"/>
          </a:solidFill>
          <a:ln w="12700">
            <a:solidFill>
              <a:srgbClr val="2A3A5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572768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7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ROC-AUC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713232" y="1874520"/>
            <a:ext cx="2286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8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0.778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3337560" y="1463040"/>
            <a:ext cx="2606040" cy="1188720"/>
          </a:xfrm>
          <a:prstGeom prst="roundRect">
            <a:avLst>
              <a:gd name="adj" fmla="val 6154"/>
            </a:avLst>
          </a:prstGeom>
          <a:solidFill>
            <a:srgbClr val="131F30"/>
          </a:solidFill>
          <a:ln w="12700">
            <a:solidFill>
              <a:srgbClr val="2A3A5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502152" y="1572768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7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PR-AUC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3502152" y="1874520"/>
            <a:ext cx="2286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8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0.273</a:t>
            </a:r>
            <a:endParaRPr lang="en-US" sz="2600" dirty="0"/>
          </a:p>
        </p:txBody>
      </p:sp>
      <p:sp>
        <p:nvSpPr>
          <p:cNvPr id="10" name="Shape 8"/>
          <p:cNvSpPr/>
          <p:nvPr/>
        </p:nvSpPr>
        <p:spPr>
          <a:xfrm>
            <a:off x="6126480" y="1463040"/>
            <a:ext cx="2606040" cy="1188720"/>
          </a:xfrm>
          <a:prstGeom prst="roundRect">
            <a:avLst>
              <a:gd name="adj" fmla="val 6154"/>
            </a:avLst>
          </a:prstGeom>
          <a:solidFill>
            <a:srgbClr val="131F30"/>
          </a:solidFill>
          <a:ln w="12700">
            <a:solidFill>
              <a:srgbClr val="2A3A5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291072" y="1572768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7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 @ 0.5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6291072" y="1874520"/>
            <a:ext cx="2286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8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66.2%</a:t>
            </a:r>
            <a:endParaRPr lang="en-US" sz="2600" dirty="0"/>
          </a:p>
        </p:txBody>
      </p:sp>
      <p:sp>
        <p:nvSpPr>
          <p:cNvPr id="13" name="Shape 11"/>
          <p:cNvSpPr/>
          <p:nvPr/>
        </p:nvSpPr>
        <p:spPr>
          <a:xfrm>
            <a:off x="8915400" y="1463040"/>
            <a:ext cx="2606040" cy="1188720"/>
          </a:xfrm>
          <a:prstGeom prst="roundRect">
            <a:avLst>
              <a:gd name="adj" fmla="val 6154"/>
            </a:avLst>
          </a:prstGeom>
          <a:solidFill>
            <a:srgbClr val="131F30"/>
          </a:solidFill>
          <a:ln w="12700">
            <a:solidFill>
              <a:srgbClr val="2A3A5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079992" y="1572768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7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Features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9079992" y="1874520"/>
            <a:ext cx="2286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8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152</a:t>
            </a:r>
            <a:endParaRPr lang="en-US" sz="26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288036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A7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imbalance (~8% default rate): scale_pos_weight vs SMOTE — tested, not assumed</a:t>
            </a:r>
            <a:endParaRPr lang="en-US" sz="14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337560"/>
          <a:ext cx="11064240" cy="1280160"/>
        </p:xfrm>
        <a:graphic>
          <a:graphicData uri="http://schemas.openxmlformats.org/drawingml/2006/table">
            <a:tbl>
              <a:tblPr/>
              <a:tblGrid>
                <a:gridCol w="4114800"/>
                <a:gridCol w="2743200"/>
                <a:gridCol w="4206240"/>
              </a:tblGrid>
              <a:tr h="4267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E8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Approach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A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F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E8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Validation ROC-AUC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A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F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E8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Notes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A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F30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E8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scale_pos_weight (production)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A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4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4C9A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0.7782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A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4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8A97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Simpler, faster, no synthetic data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A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420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E8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SMOTE (0.5 ratio)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A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4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E8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0.7793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A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4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8A97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Statistically indistinguishable (difference = 0.001)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A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420"/>
                    </a:solidFill>
                  </a:tcPr>
                </a:tc>
              </a:tr>
            </a:tbl>
          </a:graphicData>
        </a:graphic>
      </p:graphicFrame>
      <p:sp>
        <p:nvSpPr>
          <p:cNvPr id="18" name="Text 15"/>
          <p:cNvSpPr txBox="1"/>
          <p:nvPr/>
        </p:nvSpPr>
        <p:spPr>
          <a:xfrm>
            <a:off x="548640" y="48463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8A97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Evaluated on ROC-AUC / PR-AUC, not accuracy — accuracy is misleading under 8% class imbalance.</a:t>
            </a:r>
            <a:endParaRPr lang="en-US" sz="1250" dirty="0"/>
          </a:p>
        </p:txBody>
      </p:sp>
      <p:pic>
        <p:nvPicPr>
          <p:cNvPr id="19" name="Image 0" descr="/home/claude/credit_risk_platform/scripts/../documents/eval_charts/feature_importanc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77440" y="5193792"/>
            <a:ext cx="7315200" cy="1481328"/>
          </a:xfrm>
          <a:prstGeom prst="rect">
            <a:avLst/>
          </a:prstGeom>
        </p:spPr>
      </p:pic>
      <p:sp>
        <p:nvSpPr>
          <p:cNvPr id="20" name="Text 16"/>
          <p:cNvSpPr txBox="1"/>
          <p:nvPr/>
        </p:nvSpPr>
        <p:spPr>
          <a:xfrm>
            <a:off x="11612880" y="6446520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7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64592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A7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EXPLAINABLE AI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8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SHAP: auditable reasons behind every prediction</a:t>
            </a:r>
            <a:endParaRPr lang="en-US" sz="3000" dirty="0"/>
          </a:p>
        </p:txBody>
      </p:sp>
      <p:pic>
        <p:nvPicPr>
          <p:cNvPr id="4" name="Image 0" descr="/home/claude/credit_risk_platform/scripts/../documents/screenshots/04_explainabilit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566160" y="1280160"/>
            <a:ext cx="6035040" cy="5330952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57200" y="1737360"/>
            <a:ext cx="292608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8A97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TreeExplainer — exact SHAP values for gradient-boosted trees, not an approximation</a:t>
            </a:r>
            <a:endParaRPr lang="en-US" sz="12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8A97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Per-applicant: top features, direction, and a plain-English summary</a:t>
            </a:r>
            <a:endParaRPr lang="en-US" sz="12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8A97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Global: beeswarm plot across a 2,000-applicant sample</a:t>
            </a:r>
            <a:endParaRPr lang="en-US" sz="12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8A97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 correctly flagged 22 active bureau loans + 70.7% refusal rate on a genuinely-defaulted applicant (p=0.955)</a:t>
            </a:r>
            <a:endParaRPr lang="en-US" sz="1250" dirty="0"/>
          </a:p>
        </p:txBody>
      </p:sp>
      <p:sp>
        <p:nvSpPr>
          <p:cNvPr id="6" name="Text 3"/>
          <p:cNvSpPr txBox="1"/>
          <p:nvPr/>
        </p:nvSpPr>
        <p:spPr>
          <a:xfrm>
            <a:off x="11612880" y="6446520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7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64592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A7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RULES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8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Bridging ML output and credit policy</a:t>
            </a:r>
            <a:endParaRPr lang="en-US" sz="3000" dirty="0"/>
          </a:p>
        </p:txBody>
      </p:sp>
      <p:pic>
        <p:nvPicPr>
          <p:cNvPr id="4" name="Image 0" descr="/home/claude/credit_risk_platform/scripts/../documents/screenshots/05_business_rul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566160" y="1280160"/>
            <a:ext cx="6035040" cy="5330952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57200" y="1737360"/>
            <a:ext cx="292608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8A97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Bins top-25 model features and surfaces any bin where default rate is materially above baseline</a:t>
            </a:r>
            <a:endParaRPr lang="en-US" sz="12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8A97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rule backed by measured lift + support (n), not just model-internal importance</a:t>
            </a:r>
            <a:endParaRPr lang="en-US" sz="12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8A97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Auditable by a policy team independent of trusting the ML model</a:t>
            </a:r>
            <a:endParaRPr lang="en-US" sz="12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8A97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 Low-skill Laborers default at 2.12x baseline (n=2,093)</a:t>
            </a:r>
            <a:endParaRPr lang="en-US" sz="1250" dirty="0"/>
          </a:p>
        </p:txBody>
      </p:sp>
      <p:sp>
        <p:nvSpPr>
          <p:cNvPr id="6" name="Text 3"/>
          <p:cNvSpPr txBox="1"/>
          <p:nvPr/>
        </p:nvSpPr>
        <p:spPr>
          <a:xfrm>
            <a:off x="11612880" y="6446520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7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64592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A7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TALK-TO-DATA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8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NL-to-SQL with guardrails enforced in code</a:t>
            </a:r>
            <a:endParaRPr lang="en-US" sz="3000" dirty="0"/>
          </a:p>
        </p:txBody>
      </p:sp>
      <p:pic>
        <p:nvPicPr>
          <p:cNvPr id="4" name="Image 0" descr="/home/claude/credit_risk_platform/scripts/../documents/screenshots/06_talk_to_dat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566160" y="1280160"/>
            <a:ext cx="6035040" cy="5330952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57200" y="1600200"/>
            <a:ext cx="2926080" cy="4846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80" dirty="0">
                <a:solidFill>
                  <a:srgbClr val="8A97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Two-stage LLM calls: SQL generation (temp 0.1) → grounded answer summarization from real returned rows</a:t>
            </a:r>
            <a:endParaRPr lang="en-US" sz="118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80" dirty="0">
                <a:solidFill>
                  <a:srgbClr val="8A97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 validator blocks: DDL/DML keywords, chained statements, hallucinated tables/columns</a:t>
            </a:r>
            <a:endParaRPr lang="en-US" sz="118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80" dirty="0">
                <a:solidFill>
                  <a:srgbClr val="8A97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 row-limiting + read-only DB connection as a second defense layer</a:t>
            </a:r>
            <a:endParaRPr lang="en-US" sz="118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80" dirty="0">
                <a:solidFill>
                  <a:srgbClr val="8A97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Tested against real adversarial inputs (DROP TABLE, injection, fake tables) — all correctly blocked</a:t>
            </a:r>
            <a:endParaRPr lang="en-US" sz="118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80" dirty="0">
                <a:solidFill>
                  <a:srgbClr val="8A97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verified working query patterns (exceeds the required 5)</a:t>
            </a:r>
            <a:endParaRPr lang="en-US" sz="1180" dirty="0"/>
          </a:p>
        </p:txBody>
      </p:sp>
      <p:sp>
        <p:nvSpPr>
          <p:cNvPr id="6" name="Text 3"/>
          <p:cNvSpPr txBox="1"/>
          <p:nvPr/>
        </p:nvSpPr>
        <p:spPr>
          <a:xfrm>
            <a:off x="11612880" y="6446520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7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64592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A7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INTERFACE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8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platform, five sections, real data throughout</a:t>
            </a:r>
            <a:endParaRPr lang="en-US" sz="3000" dirty="0"/>
          </a:p>
        </p:txBody>
      </p:sp>
      <p:pic>
        <p:nvPicPr>
          <p:cNvPr id="4" name="Image 0" descr="/home/claude/credit_risk_platform/scripts/../documents/screenshots/01_overvie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71600"/>
            <a:ext cx="5486400" cy="3813048"/>
          </a:xfrm>
          <a:prstGeom prst="rect">
            <a:avLst/>
          </a:prstGeom>
        </p:spPr>
      </p:pic>
      <p:pic>
        <p:nvPicPr>
          <p:cNvPr id="5" name="Image 1" descr="/home/claude/credit_risk_platform/scripts/../documents/screenshots/03b_risk_prediction_resul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371600"/>
            <a:ext cx="5486400" cy="3813048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457200" y="525780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97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Overview (KPIs from real data)                                              Risk Prediction (live scoring + risk band)</a:t>
            </a:r>
            <a:endParaRPr lang="en-US" sz="1150" dirty="0"/>
          </a:p>
        </p:txBody>
      </p:sp>
      <p:sp>
        <p:nvSpPr>
          <p:cNvPr id="7" name="Text 3"/>
          <p:cNvSpPr txBox="1"/>
          <p:nvPr/>
        </p:nvSpPr>
        <p:spPr>
          <a:xfrm>
            <a:off x="457200" y="59436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3FA7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Streamlit • dark navy/teal design system • IBM Plex Sans • responsive KPI cards</a:t>
            </a:r>
            <a:endParaRPr lang="en-US" sz="1250" dirty="0"/>
          </a:p>
        </p:txBody>
      </p:sp>
      <p:sp>
        <p:nvSpPr>
          <p:cNvPr id="8" name="Text 4"/>
          <p:cNvSpPr txBox="1"/>
          <p:nvPr/>
        </p:nvSpPr>
        <p:spPr>
          <a:xfrm>
            <a:off x="11612880" y="6446520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7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64592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A7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DEPLOYMENT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8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command to run the full platform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548640" cy="548640"/>
          </a:xfrm>
          <a:prstGeom prst="ellipse">
            <a:avLst/>
          </a:prstGeom>
          <a:solidFill>
            <a:srgbClr val="3FA796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164592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B1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325880" y="160020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Clone &amp; configure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325880" y="1938528"/>
            <a:ext cx="9875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A97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clone the repo, copy .env.example → .env, add a free Groq API key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48640" y="2697480"/>
            <a:ext cx="548640" cy="548640"/>
          </a:xfrm>
          <a:prstGeom prst="ellipse">
            <a:avLst/>
          </a:prstGeom>
          <a:solidFill>
            <a:srgbClr val="3FA796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48640" y="269748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B1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1325880" y="265176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 data &amp; model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1325880" y="2990088"/>
            <a:ext cx="9875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A97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Download 5 Kaggle CSVs → run loader, preprocessor, train, evaluate, rules scripts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48640" y="3749040"/>
            <a:ext cx="548640" cy="548640"/>
          </a:xfrm>
          <a:prstGeom prst="ellipse">
            <a:avLst/>
          </a:prstGeom>
          <a:solidFill>
            <a:srgbClr val="3FA796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48640" y="374904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B1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1325880" y="370332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docker-compose up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325880" y="4041648"/>
            <a:ext cx="9875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A97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Builds the image and launches Streamlit on port 8501 — single command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48640" y="4937760"/>
            <a:ext cx="11064240" cy="1280160"/>
          </a:xfrm>
          <a:prstGeom prst="roundRect">
            <a:avLst>
              <a:gd name="adj" fmla="val 5714"/>
            </a:avLst>
          </a:prstGeom>
          <a:solidFill>
            <a:srgbClr val="131F30"/>
          </a:solidFill>
          <a:ln w="12700">
            <a:solidFill>
              <a:srgbClr val="3FA79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68680" y="512064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Dockerfile • docker-compose.yml • .env.example — all in the repo root, per the required structure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868680" y="548640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FA7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github.com/malavika-krishna24/credit-risk-platform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11612880" y="6446520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7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64592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A7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 SCOPE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8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Known limitations &amp; what's next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11064240" cy="1051560"/>
          </a:xfrm>
          <a:prstGeom prst="roundRect">
            <a:avLst>
              <a:gd name="adj" fmla="val 6957"/>
            </a:avLst>
          </a:prstGeom>
          <a:solidFill>
            <a:srgbClr val="131F30"/>
          </a:solidFill>
          <a:ln w="12700">
            <a:solidFill>
              <a:srgbClr val="2A3A5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1664208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0A4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Kaggle tables not yet joined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039112"/>
            <a:ext cx="10424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97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bureau_balance.csv and credit_card_balance.csv would add further repayment signal on top of what's already used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2761488"/>
            <a:ext cx="11064240" cy="1051560"/>
          </a:xfrm>
          <a:prstGeom prst="roundRect">
            <a:avLst>
              <a:gd name="adj" fmla="val 6957"/>
            </a:avLst>
          </a:prstGeom>
          <a:solidFill>
            <a:srgbClr val="131F30"/>
          </a:solidFill>
          <a:ln w="12700">
            <a:solidFill>
              <a:srgbClr val="2A3A5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68680" y="2871216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0A4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Risk-band thresholds are defaults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68680" y="3246120"/>
            <a:ext cx="10424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97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Low/Medium/High cutoffs should be tuned against a real bank's approval/loss economics in production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48640" y="3968496"/>
            <a:ext cx="11064240" cy="1051560"/>
          </a:xfrm>
          <a:prstGeom prst="roundRect">
            <a:avLst>
              <a:gd name="adj" fmla="val 6957"/>
            </a:avLst>
          </a:prstGeom>
          <a:solidFill>
            <a:srgbClr val="131F30"/>
          </a:solidFill>
          <a:ln w="12700">
            <a:solidFill>
              <a:srgbClr val="2A3A5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68680" y="4078224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0A4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Prediction form uses ~12 key fields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868680" y="4453128"/>
            <a:ext cx="10424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97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Remaining ~140 features filled from population medians/modes — a deliberate UX tradeoff for a demo interface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48640" y="5175504"/>
            <a:ext cx="11064240" cy="1051560"/>
          </a:xfrm>
          <a:prstGeom prst="roundRect">
            <a:avLst>
              <a:gd name="adj" fmla="val 6957"/>
            </a:avLst>
          </a:prstGeom>
          <a:solidFill>
            <a:srgbClr val="131F30"/>
          </a:solidFill>
          <a:ln w="12700">
            <a:solidFill>
              <a:srgbClr val="2A3A5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68680" y="5285232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0A4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monitoring/retraining pipeline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868680" y="5660136"/>
            <a:ext cx="10424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97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production deployment needs drift detection and scheduled retraining — out of scope here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11612880" y="6446520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7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2651760"/>
            <a:ext cx="91440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E8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347472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A97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Credit Risk Intelligence Platform — built end-to-end with real data, tested at every stage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822960" y="4023360"/>
            <a:ext cx="502920" cy="54864"/>
          </a:xfrm>
          <a:prstGeom prst="rect">
            <a:avLst/>
          </a:prstGeom>
          <a:solidFill>
            <a:srgbClr val="3FA796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2960" y="61264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FA7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github.com/malavika-krishna24/credit-risk-platform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2026-09-06T14:23:32Z</dcterms:created>
  <dcterms:modified xsi:type="dcterms:W3CDTF">2026-09-06T14:23:32Z</dcterms:modified>
</cp:coreProperties>
</file>